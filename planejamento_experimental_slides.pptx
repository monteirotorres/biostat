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917972"/>
            <a:ext cx="3657600" cy="1135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Georgia"/>
              </a:rPr>
              <a:t>Planejamento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6457"/>
                </a:solidFill>
                <a:latin typeface="Consolas"/>
              </a:rPr>
              <a:t>Instituto de Biofísica Carlos Chagas Filho ·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Georgia"/>
              </a:rPr>
              <a:t>Pedro Torres   ·   Gilberto Weissmuller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Nenhuma análise conserta um experimento mal desenhado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O resultado de um estudo depende fundamentalmente de como os dados foram coletados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Uma análise sofisticada não recupera informação que jamais foi registrada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Planejar bem = definir antes da coleta: o que medir, quantos indivíduos, como alocar os tratamentos e quais vieses controlar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O cálculo amostral e o controle de confundidores têm que vir antes do primeiro tubo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Estudos subdimensionados geram 'negativos' que nada provam e 'positivos' que superestimam o efeito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Dois grupos de pesquisa investigam o mesmo fármaco. Um planeja com 80 % de poder e detecta o efeito. O outro coleta 'o que deu' e publica um falso negativo.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Os quatro pilares de um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363676"/>
            <a:ext cx="9784080" cy="3045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Controle · Aleatorização · Repetição · Pareamento — os pilares do desenho experimental clássico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PILAR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Controle: isolar o que se quer estudar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Manter constantes todas as variáveis que não estão sendo manipuladas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Grupo controle recebe placebo ou condição padrão nas mesmas condições do grupo experimental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Mesmo observador, mesmo equipamento, mesmo momento do dia — quando possível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Variações não controladas inflam a variabilidade e reduzem o poder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Exemplo clássico: se um grupo é medido de manhã e o outro à tarde, qualquer diferença pode ser ritmo circadiano, não o tratamento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Experimento de comportamento animal: todos os camundongos do mesmo sexo, mesma gaiola, mesma ração, testados na mesma janela de tempo.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PILAR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Aleatorização: o único antídoto para o confundidor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Sortear quem recebe cada tratamento distribui aleatoriamente os confundidores não conhecidos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Sem aleatorização, grupos podem diferir em fatores que o pesquisador não mediu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Exemplo: se pacientes mais graves tendem a receber o tratamento A, qualquer diferença pode ser gravidade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Aleatorização em blocos: garante equilíbrio por subgrupos (sexo, centro, turno)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Duplo-cego: participante e avaliador desconhecem o grupo — controla viés de expectativa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Ensaio clínico: randomização por envelope selado ou gerador de números. Estudos observacionais não podem fazer isso — por isso não provam causalidade.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PILAR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Repetição: o acaso se dilui com o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Qualquer medida individual carrega variabilidade; a média de n medidas tem desvio reduzido por √n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Repetição técnica: mesma amostra medida mais de uma vez (controla erro de medida)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Repetição biológica: amostras de indivíduos diferentes (controla variabilidade biológica)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Os dois tipos não são intercambiáveis: três medidas do mesmo camundongo ≠ três camundongos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O n do cálculo amostral sempre se refere a unidades experimentais independentes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qPCR: triplicatas técnicas são controle de pipetagem. Para inferência biológica, precisamos de animais (ou pacientes)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PILAR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Pareamento: cada indivíduo como seu próprio controle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248103"/>
            <a:ext cx="9784080" cy="3276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Sem pareamento, a variabilidade entre indivíduos domina o sinal. Pareando, cada diferença individual é removida.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1A1A1A"/>
                </a:solidFill>
                <a:latin typeface="Georgia"/>
              </a:rPr>
              <a:t>Tipos de estudo e variáveis de confusão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6B6457"/>
                </a:solidFill>
                <a:latin typeface="Georgia"/>
              </a:rPr>
              <a:t>Quando podemos afirmar causalidade?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Experimento verdadeiro vs. estudo observacional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6576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FFFDF8"/>
                </a:solidFill>
                <a:latin typeface="Georgia"/>
              </a:rPr>
              <a:t>Característica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783080"/>
            <a:ext cx="72539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187452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FFFDF8"/>
                </a:solidFill>
                <a:latin typeface="Georgia"/>
              </a:rPr>
              <a:t>Experimento controlado      |      Estudo observacional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Variável manipulada?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68296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450592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Sim, pelo pesquisador              |      Não — apenas observada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Aleatorização?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953512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3035808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Sim (RCT)                                 |      Não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Permite causalidade?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538728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3621024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Sim                                           |      Não — apenas associação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Controla confundidores?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123944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206240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Por aleatorização              |      Parcialmente (propensity score, etc.)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Exemplos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4709160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4791456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Ensaio clínico, RCBD                |      Coorte, caso-controle, transversal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Variável de confusão: o culpado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Um confundidor está associado tanto à exposição quanto ao desfecho — e não é intermediário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Sem controle, seu efeito se mistura ao do tratamento e distorce a estimativa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Exemplo histórico: motoristas de ônibus tinham mais doença coronariana do que cobradores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A diferença real era sedentarismo (motoristas ficam sentados), não o emprego em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A solução foi estratificar por tipo de atividade — e o efeito do exercício emergiu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Aleatorização distribui confundidores conhecidos E desconhecidos — a vantagem do experimento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Café e câncer de pulmão: fumantes bebem mais café. O tabagismo é o confundidor; sem controlá-lo, o café parece cancerígeno.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1A1A1A"/>
                </a:solidFill>
                <a:latin typeface="Georgia"/>
              </a:rPr>
              <a:t>Poder estatístico e cálculo amostral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6B6457"/>
                </a:solidFill>
                <a:latin typeface="Georgia"/>
              </a:rPr>
              <a:t>Quantos sujeitos preciso para responder minha pergunta?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Os dois tipos de erro e o que os controla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2004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840480" y="1783080"/>
            <a:ext cx="77111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1874520"/>
            <a:ext cx="7528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FFFDF8"/>
                </a:solidFill>
                <a:latin typeface="Georgia"/>
              </a:rPr>
              <a:t>H₀ é verdadeira          |          H₀ é falsa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Não rejeitamos H₀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368296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0208" y="2450592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Decisão correta (1 − α)   |   Erro tipo II  (β)  — falso negativo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Rejeitamos H₀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953512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0208" y="3035808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Erro tipo I  (α)               |   Decisão correta  (poder = 1 − β)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O que controla?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3538728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3621024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Nível de significância α  |   n, efeito real, σ, 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Consequência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4123944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4206240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Alarme falso                        |   Perde efeito real — estudo inconclusivo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Poder: a chance de detectar 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Poder = 1 − β = P(rejeitar H₀ | H₁ é verdadeira)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Convenção: queremos poder ≥ 80 % (β ≤ 20 %)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Quatro fatores controlam o poder — fixados três, o quarto está determinado: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↑ n  →  ↑ poder (mais informação = menos incerteza)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↑ δ (efeito real)  →  ↑ poder (sinal maior é mais fácil de ver)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↑ σ (variabilidade)  →  ↓ poder (ruído esconde o sinal)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↑ α  →  ↑ poder, mas ↑ erro tipo I (tradeoff)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52649" y="4617719"/>
            <a:ext cx="9256221" cy="109728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16426cd517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689" y="4823459"/>
            <a:ext cx="8616141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Os quatro quadrantes: efeito × variabilidade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adr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391" y="1874519"/>
            <a:ext cx="602673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A combinação de tamanho de efeito e variabilidade determina o esforço amostral necessário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Quantos sujeitos preciso?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A pergunta central do planejamento: quantos indivíduos para 80 % de poder, α = 0,05?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Para comparação de duas médias (teste t, Welch):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d = δ/σ é o tamanho de efeito padronizado (Cohen's d)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z₀.₉₇₅ ≈ 1,96  e  z₀.₈₀ ≈ 0,84 para poder = 80 %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Exemplo: d = 0,5 (efeito médio) → n ≈ 64 por grupo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900" b="0" i="0">
                <a:solidFill>
                  <a:srgbClr val="1A1A1A"/>
                </a:solidFill>
                <a:latin typeface="Georgia"/>
              </a:rPr>
              <a:t>•  Exemplo: d = 0,2 (efeito pequeno) → n ≈ 394 por grupo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700" b="0" i="0">
                <a:solidFill>
                  <a:srgbClr val="1A1A1A"/>
                </a:solidFill>
                <a:latin typeface="Georgia"/>
              </a:rPr>
              <a:t>–  Dobrar a precisão exige quatro vezes mais sujeitos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2211" y="4617719"/>
            <a:ext cx="5877098" cy="109728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9e953ebbc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251" y="4823459"/>
            <a:ext cx="5237018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Poder em função do n: curvas para diferentes efeitos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der_curv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719" y="1874519"/>
            <a:ext cx="8106081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Efeito grande (d = 0,8): poucos sujeitos bastam. Efeito pequeno (d = 0,2): centenas. A linha tracejada marca poder = 80 %.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1A1A1A"/>
                </a:solidFill>
                <a:latin typeface="Georgia"/>
              </a:rPr>
              <a:t>Significância, relevância e tamanho de efeito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6B6457"/>
                </a:solidFill>
                <a:latin typeface="Georgia"/>
              </a:rPr>
              <a:t>Um p-valor pequeno não significa que o efeito importa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SIGNIFICÂNCIA VS. RELEVÂNCIA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Significativo não é o mesmo que importante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Significância estatística: a diferença é grande o bastante para ser detectada pelo design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Relevância clínica/biológica: a diferença é grande o bastante para importar na prática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Com n enorme qualquer diferença minúscula pode ser estatisticamente significativa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Exemplo: diferença de 0,1 ponto de QI entre primogênitos e caçulas — p &lt; 0,001 em estudo com 250 000 pares, mas clinicamente irrelevante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O que importa: o tamanho do efeito e seu intervalo de confiança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Reporte sempre: valor-p + tamanho de efeito + IC 95 %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223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Antitérmico reduz febre em 0,1 °C: p = 0,02 com n grande. Estatisticamente significativo, clinicamente inútil.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TAMANHO DE EFEITO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Medidas de tamanho de efeito padronizadas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92608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FFFDF8"/>
                </a:solidFill>
                <a:latin typeface="Georgia"/>
              </a:rPr>
              <a:t>Medida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783080"/>
            <a:ext cx="798545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1874520"/>
            <a:ext cx="78025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FFFDF8"/>
                </a:solidFill>
                <a:latin typeface="Georgia"/>
              </a:rPr>
              <a:t>Quando usar                          |   Pequeno   Médio  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Cohen's 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368296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450592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Diferença de duas médias (t)              |     0,2        0,5        0,8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Cohen's 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953512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035808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ANOVA (variação entre grupos)          |     0,10      0,25      0,40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Cohen's 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538728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5888" y="3621024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Qui-quadrado (tabelas de conting.)   |     0,10      0,30      0,50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r de Pearson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4123944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8" y="4206240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Correlação linear                                |     0,10      0,30      0,50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η² (eta²)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4709160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5888" y="4791456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Georgia"/>
              </a:rPr>
              <a:t>Variância explicada pela ANOVA       |     0,01      0,06      0,14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Cinco perguntas que decidem 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DF8"/>
                </a:solidFill>
                <a:latin typeface="Consolas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828800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326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901952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3266AD"/>
                </a:solidFill>
                <a:latin typeface="Georgia"/>
              </a:rPr>
              <a:t>Bivariada ou multivariável?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286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B6457"/>
                </a:solidFill>
                <a:latin typeface="Georgia"/>
              </a:rPr>
              <a:t>uma única exposição contra o desfecho, ou ajuste para várias covariáveis?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07208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DF8"/>
                </a:solidFill>
                <a:latin typeface="Consolas"/>
              </a:rPr>
              <a:t>Q2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15768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7889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0392B"/>
                </a:solidFill>
                <a:latin typeface="Georgia"/>
              </a:rPr>
              <a:t>Diferença ou correlação?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72968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B6457"/>
                </a:solidFill>
                <a:latin typeface="Georgia"/>
              </a:rPr>
              <a:t>comparar grupos / medir um efeito, ou medir a associação entre variáveis?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694176"/>
            <a:ext cx="640080" cy="640080"/>
          </a:xfrm>
          <a:prstGeom prst="ellipse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6732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DF8"/>
                </a:solidFill>
                <a:latin typeface="Consolas"/>
              </a:rPr>
              <a:t>Q3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602736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675888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7A4A"/>
                </a:solidFill>
                <a:latin typeface="Georgia"/>
              </a:rPr>
              <a:t>Independente ou pareada?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59936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B6457"/>
                </a:solidFill>
                <a:latin typeface="Georgia"/>
              </a:rPr>
              <a:t>amostras separadas, ou o mesmo indivíduo (antes–depois, blocos)?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81144"/>
            <a:ext cx="640080" cy="64008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5429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DF8"/>
                </a:solidFill>
                <a:latin typeface="Consolas"/>
              </a:rPr>
              <a:t>Q4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4489704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4562856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6B3FA0"/>
                </a:solidFill>
                <a:latin typeface="Georgia"/>
              </a:rPr>
              <a:t>Tipo do desfecho — e normalidade?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46904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B6457"/>
                </a:solidFill>
                <a:latin typeface="Georgia"/>
              </a:rPr>
              <a:t>contínua (Normal ou não), ordinal, nominal, tempo até evento, contagem?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468112"/>
            <a:ext cx="640080" cy="640080"/>
          </a:xfrm>
          <a:prstGeom prst="ellipse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4126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DF8"/>
                </a:solidFill>
                <a:latin typeface="Consolas"/>
              </a:rPr>
              <a:t>Q5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5376672"/>
            <a:ext cx="10241280" cy="777240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96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5449824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96E1F"/>
                </a:solidFill>
                <a:latin typeface="Georgia"/>
              </a:rPr>
              <a:t>Quantos grupos ou condições?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833872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6B6457"/>
                </a:solidFill>
                <a:latin typeface="Georgia"/>
              </a:rPr>
              <a:t>duas, ou três ou mais?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A1A1A"/>
                </a:solidFill>
                <a:latin typeface="Georgia"/>
              </a:rPr>
              <a:t>Guia completo de escolha do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8016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399032"/>
            <a:ext cx="2743200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53896"/>
            <a:ext cx="2542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Tipo de desfecho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99032"/>
            <a:ext cx="749808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38144" y="145389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399032"/>
            <a:ext cx="263347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7952" y="1453896"/>
            <a:ext cx="24323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Teste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783080"/>
            <a:ext cx="6126480" cy="370332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37944"/>
            <a:ext cx="592531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DF8"/>
                </a:solidFill>
                <a:latin typeface="Georgia"/>
              </a:rPr>
              <a:t>  Grupos independentes (não pareados)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53412"/>
            <a:ext cx="2743200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199132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— Normal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153412"/>
            <a:ext cx="749808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8144" y="2199132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87368" y="2153412"/>
            <a:ext cx="2633472" cy="352044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87952" y="2199132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Teste t (Student / Welch)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505456"/>
            <a:ext cx="2743200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2551176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— Normal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505456"/>
            <a:ext cx="749808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38144" y="2551176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&gt;2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87368" y="2505456"/>
            <a:ext cx="2633472" cy="352044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7952" y="2551176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ANOVA one-way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857500"/>
            <a:ext cx="2743200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903220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não-Normal / Ordinal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2857500"/>
            <a:ext cx="749808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38144" y="2903220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87368" y="2857500"/>
            <a:ext cx="2633472" cy="352044"/>
          </a:xfrm>
          <a:prstGeom prst="rect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87952" y="2903220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Mann–Whitney 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3209544"/>
            <a:ext cx="2743200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3255264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não-Normal / Ordinal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3209544"/>
            <a:ext cx="749808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38144" y="3255264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&gt;2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87368" y="3209544"/>
            <a:ext cx="2633472" cy="352044"/>
          </a:xfrm>
          <a:prstGeom prst="rect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87952" y="3255264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Kruskal–Wallis 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3561588"/>
            <a:ext cx="2743200" cy="352044"/>
          </a:xfrm>
          <a:prstGeom prst="rect">
            <a:avLst/>
          </a:prstGeom>
          <a:solidFill>
            <a:srgbClr val="DC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607308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Nominal (categorias)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3561588"/>
            <a:ext cx="749808" cy="352044"/>
          </a:xfrm>
          <a:prstGeom prst="rect">
            <a:avLst/>
          </a:prstGeom>
          <a:solidFill>
            <a:srgbClr val="DC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38144" y="3607308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87368" y="3561588"/>
            <a:ext cx="2633472" cy="35204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87952" y="3607308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Qui-quadrado · Fisher exato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913632"/>
            <a:ext cx="2743200" cy="352044"/>
          </a:xfrm>
          <a:prstGeom prst="rect">
            <a:avLst/>
          </a:prstGeom>
          <a:solidFill>
            <a:srgbClr val="E8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3959352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Sobrevida (tempo até evento)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913632"/>
            <a:ext cx="749808" cy="352044"/>
          </a:xfrm>
          <a:prstGeom prst="rect">
            <a:avLst/>
          </a:prstGeom>
          <a:solidFill>
            <a:srgbClr val="E8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38144" y="3959352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87368" y="3913632"/>
            <a:ext cx="2633472" cy="352044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87952" y="3959352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Log-Rank · Kaplan–Meier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265676"/>
            <a:ext cx="6126480" cy="3703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" y="4320540"/>
            <a:ext cx="592531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DF8"/>
                </a:solidFill>
                <a:latin typeface="Georgia"/>
              </a:rPr>
              <a:t>  Grupos pareados (mesmo indivíduo / blocos)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" y="4636008"/>
            <a:ext cx="2743200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" y="4681728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— Normal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37560" y="4636008"/>
            <a:ext cx="749808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38144" y="4681728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87368" y="4636008"/>
            <a:ext cx="2633472" cy="352044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87952" y="4681728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Teste t pareado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" y="4988052"/>
            <a:ext cx="2743200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4944" y="5033772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— Normal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37560" y="4988052"/>
            <a:ext cx="749808" cy="352044"/>
          </a:xfrm>
          <a:prstGeom prst="rect">
            <a:avLst/>
          </a:prstGeom>
          <a:solidFill>
            <a:srgbClr val="DC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38144" y="5033772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&gt;2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87368" y="4988052"/>
            <a:ext cx="2633472" cy="352044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87952" y="5033772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ANOVA medidas repetidas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5340096"/>
            <a:ext cx="2743200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5385816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não-Normal / Ordinal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37560" y="5340096"/>
            <a:ext cx="749808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38144" y="5385816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87368" y="5340096"/>
            <a:ext cx="2633472" cy="352044"/>
          </a:xfrm>
          <a:prstGeom prst="rect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87952" y="5385816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Wilcoxon dos postos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" y="5692140"/>
            <a:ext cx="2743200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" y="5737860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Contínua não-Normal / Ordinal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337560" y="5692140"/>
            <a:ext cx="749808" cy="352044"/>
          </a:xfrm>
          <a:prstGeom prst="rect">
            <a:avLst/>
          </a:prstGeom>
          <a:solidFill>
            <a:srgbClr val="FD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438144" y="5737860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&gt;2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87368" y="5692140"/>
            <a:ext cx="2633472" cy="352044"/>
          </a:xfrm>
          <a:prstGeom prst="rect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87952" y="5737860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Friedman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6044184"/>
            <a:ext cx="2743200" cy="352044"/>
          </a:xfrm>
          <a:prstGeom prst="rect">
            <a:avLst/>
          </a:prstGeom>
          <a:solidFill>
            <a:srgbClr val="DC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4944" y="6089904"/>
            <a:ext cx="254203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Nominal (categorias)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37560" y="6044184"/>
            <a:ext cx="749808" cy="352044"/>
          </a:xfrm>
          <a:prstGeom prst="rect">
            <a:avLst/>
          </a:prstGeom>
          <a:solidFill>
            <a:srgbClr val="DC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38144" y="6089904"/>
            <a:ext cx="54864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87368" y="6044184"/>
            <a:ext cx="2633472" cy="35204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87952" y="6089904"/>
            <a:ext cx="243230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McNemar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95160" y="1399032"/>
            <a:ext cx="2560320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95744" y="1453896"/>
            <a:ext cx="2359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Situação / desfecho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555480" y="1399032"/>
            <a:ext cx="290779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1453896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Teste / modelo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1783080"/>
            <a:ext cx="5468112" cy="3703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95744" y="1837944"/>
            <a:ext cx="526694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DF8"/>
                </a:solidFill>
                <a:latin typeface="Georgia"/>
              </a:rPr>
              <a:t>  Correlação bivariada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95160" y="2153412"/>
            <a:ext cx="2560320" cy="352044"/>
          </a:xfrm>
          <a:prstGeom prst="rect">
            <a:avLst/>
          </a:prstGeom>
          <a:solidFill>
            <a:srgbClr val="F6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95744" y="2199132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Normal e linear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55480" y="2153412"/>
            <a:ext cx="2907792" cy="35204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656064" y="2199132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Pearson  (r)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95160" y="2505456"/>
            <a:ext cx="2560320" cy="352044"/>
          </a:xfrm>
          <a:prstGeom prst="rect">
            <a:avLst/>
          </a:prstGeom>
          <a:solidFill>
            <a:srgbClr val="F6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95744" y="2551176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Não-Normal / Ordinal / monotônica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555480" y="2505456"/>
            <a:ext cx="2907792" cy="35204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56064" y="2551176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Spearman (ρ)  ·  Kendall (τ)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95160" y="2857500"/>
            <a:ext cx="5468112" cy="370332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95744" y="2912364"/>
            <a:ext cx="526694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Georgia"/>
              </a:rPr>
              <a:t>  Predição multivariável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95160" y="3227832"/>
            <a:ext cx="2560320" cy="352044"/>
          </a:xfrm>
          <a:prstGeom prst="rect">
            <a:avLst/>
          </a:prstGeom>
          <a:solidFill>
            <a:srgbClr val="FCF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95744" y="3273552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Desfecho contínuo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55480" y="3227832"/>
            <a:ext cx="2907792" cy="352044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56064" y="3273552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linear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995160" y="3579876"/>
            <a:ext cx="2560320" cy="352044"/>
          </a:xfrm>
          <a:prstGeom prst="rect">
            <a:avLst/>
          </a:prstGeom>
          <a:solidFill>
            <a:srgbClr val="FCF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095744" y="3625596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Desfecho ordinal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55480" y="3579876"/>
            <a:ext cx="2907792" cy="352044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656064" y="3625596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logística ordinal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995160" y="3931920"/>
            <a:ext cx="2560320" cy="352044"/>
          </a:xfrm>
          <a:prstGeom prst="rect">
            <a:avLst/>
          </a:prstGeom>
          <a:solidFill>
            <a:srgbClr val="FCF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95744" y="3977640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Desfecho nominal — 2 níveis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555480" y="3931920"/>
            <a:ext cx="2907792" cy="352044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656064" y="3977640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logística binária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95160" y="4283964"/>
            <a:ext cx="2560320" cy="352044"/>
          </a:xfrm>
          <a:prstGeom prst="rect">
            <a:avLst/>
          </a:prstGeom>
          <a:solidFill>
            <a:srgbClr val="FCF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095744" y="4329684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Desfecho nominal — &gt;2 níveis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555480" y="4283964"/>
            <a:ext cx="2907792" cy="352044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656064" y="4329684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logística multinomial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95160" y="4636008"/>
            <a:ext cx="2560320" cy="352044"/>
          </a:xfrm>
          <a:prstGeom prst="rect">
            <a:avLst/>
          </a:prstGeom>
          <a:solidFill>
            <a:srgbClr val="E8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095744" y="4681728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Sobrevida (tempo até evento)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555480" y="4636008"/>
            <a:ext cx="2907792" cy="352044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656064" y="4681728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de Cox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95160" y="4988052"/>
            <a:ext cx="2560320" cy="352044"/>
          </a:xfrm>
          <a:prstGeom prst="rect">
            <a:avLst/>
          </a:prstGeom>
          <a:solidFill>
            <a:srgbClr val="FCF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95744" y="5033772"/>
            <a:ext cx="2359152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Georgia"/>
              </a:rPr>
              <a:t>Contagem / taxa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55480" y="4988052"/>
            <a:ext cx="2907792" cy="352044"/>
          </a:xfrm>
          <a:prstGeom prst="rect">
            <a:avLst/>
          </a:prstGeom>
          <a:solidFill>
            <a:srgbClr val="A0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656064" y="5033772"/>
            <a:ext cx="2706624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DF8"/>
                </a:solidFill>
                <a:latin typeface="Georgia"/>
              </a:rPr>
              <a:t>Regressão de Poisson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DEPOIS DO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Pós-testes e o que sempre reportar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Uma ANOVA significativa diz que ALGUMA média difere — mas não qual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Tukey HSD: todos os grupos comparados entre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Dunnett: cada grupo comparado com um único controle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Bonferroni · Šidák: poucas comparações planejadas a priori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Scheffé: combinações lineares de médias (contrastes)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Não-paramétricos: Dunn (após Kruskal–Wallis) · Wilcoxon pareado corrigido (após Friedman)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Antes de qualquer teste: faça um gráfico (histograma, boxplot, dispersão) e cheque suposições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Sempre reporte valor-p + tamanho de efeito + intervalo de confiança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Checklist do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Pergunta de pesquisa clara e hipótese pré-registrada antes da coleta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Cálculo amostral feito com tamanho de efeito mínimo relevante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Aleatorização documentada (como foi feita, por quem, quando)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Grupos equilibrados em covariáveis importantes (baseline table)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Cegamento do avaliador quando possível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Análise dos dados cega ou pré-especificada no protocolo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Reporte: valor-p, tamanho de efeito (+ IC 95 %) e poder pós-hoc se negativo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800" b="0" i="0">
                <a:solidFill>
                  <a:srgbClr val="1A1A1A"/>
                </a:solidFill>
                <a:latin typeface="Georgia"/>
              </a:rPr>
              <a:t>–  Um estudo negativo bem dimensionado diz tanto quanto um positivo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Georgia"/>
              </a:rPr>
              <a:t>Referências e contato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6304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50001"/>
            <a:ext cx="4114800" cy="1277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749039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Material teórico completo e interativo:</a:t>
            </a:r>
          </a:p>
          <a:p>
            <a:r>
              <a:rPr sz="1800" b="0" i="0">
                <a:solidFill>
                  <a:srgbClr val="3266AD"/>
                </a:solidFill>
                <a:latin typeface="Consolas"/>
              </a:rPr>
              <a:t>monteirotorres.github.io/biostat</a:t>
            </a:r>
          </a:p>
          <a:p>
            <a:r>
              <a:rPr sz="800" b="0" i="0">
                <a:solidFill>
                  <a:srgbClr val="1A1A1A"/>
                </a:solidFill>
                <a:latin typeface="Georgia"/>
              </a:rPr>
              <a:t> </a:t>
            </a:r>
          </a:p>
          <a:p>
            <a:r>
              <a:rPr sz="1500" b="0" i="0">
                <a:solidFill>
                  <a:srgbClr val="6B6457"/>
                </a:solidFill>
                <a:latin typeface="Georgia"/>
              </a:rPr>
              <a:t>Notebooks em Python (pandas · seaborn · scipy.stats)</a:t>
            </a:r>
          </a:p>
          <a:p>
            <a:r>
              <a:rPr sz="1500" b="0" i="0">
                <a:solidFill>
                  <a:srgbClr val="6B6457"/>
                </a:solidFill>
                <a:latin typeface="Consolas"/>
              </a:rPr>
              <a:t>Contato: monteirotorres@biof.ufrj.br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