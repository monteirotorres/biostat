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bcc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917972"/>
            <a:ext cx="3657600" cy="11358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46888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Georgia"/>
              </a:rPr>
              <a:t>Planejamento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6457"/>
                </a:solidFill>
                <a:latin typeface="Consolas"/>
              </a:rPr>
              <a:t>Instituto de Biofísica Carlos Chagas Filho · UFRJ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Georgia"/>
              </a:rPr>
              <a:t>Pedro Torres   ·   Gilberto Weissmuller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PLANEJAMENTO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Nenhuma análise conserta um experimento mal desenhado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O resultado de um estudo depende fundamentalmente de como os dados foram coletados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Uma análise sofisticada não recupera informação que jamais foi registrada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Planejar bem = definir antes da coleta: o que medir, quantos indivíduos, como alocar os tratamentos e quais vieses controlar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O cálculo amostral e o controle de confundidores têm que vir antes do primeiro tubo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Estudos subdimensionados geram 'negativos' que nada provam e 'positivos' que superestimam o efeito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Dois grupos de pesquisa investigam o mesmo fármaco. Um planeja com 80 % de poder e detecta o efeito. O outro coleta 'o que deu' e publica um falso negativo.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PLANEJAMENTO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Os quatro pilares de um bom experimento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la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344045"/>
            <a:ext cx="9784080" cy="3084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Controle · Aleatorização · Repetição · Pareamento — os pilares do desenho experimental clássico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PILAR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Controle: isolar o que se quer estudar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Manter constantes todas as variáveis que não estão sendo manipuladas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Grupo controle recebe placebo ou condição padrão nas mesmas condições do grupo experimental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Mesmo observador, mesmo equipamento, mesmo momento do dia — quando possível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Variações não controladas inflam a variabilidade e reduzem o poder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Exemplo clássico: se um grupo é medido de manhã e o outro à tarde, qualquer diferença pode ser ritmo circadiano, não o tratamento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Experimento de comportamento animal: todos os camundongos do mesmo sexo, mesma gaiola, mesma ração, testados na mesma janela de tempo.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PILAR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Aleatorização: o único antídoto para o confundidor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Sortear quem recebe cada tratamento distribui aleatoriamente os confundidores não conhecidos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Sem aleatorização, grupos podem diferir em fatores que o pesquisador não mediu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Exemplo: se pacientes mais graves tendem a receber o tratamento A, qualquer diferença pode ser gravidade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Aleatorização em blocos: garante equilíbrio por subgrupos (sexo, centro, turno)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Duplo-cego: participante e avaliador desconhecem o grupo — controla viés de expectativa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Ensaio clínico: randomização por envelope selado ou gerador de números. Estudos observacionais não podem fazer isso — por isso não provam causalidade.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PILAR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Repetição: o acaso se dilui com o 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Qualquer medida individual carrega variabilidade; a média de n medidas tem desvio reduzido por √n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Repetição técnica: mesma amostra medida mais de uma vez (controla erro de medida)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Repetição biológica: amostras de indivíduos diferentes (controla variabilidade biológica)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Os dois tipos não são intercambiáveis: três medidas do mesmo camundongo ≠ três camundongos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O n do cálculo amostral sempre se refere a unidades experimentais independentes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qPCR: triplicatas técnicas são controle de pipetagem. Para inferência biológica, precisamos de animais (ou pacientes) independentes.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PILAR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Pareamento: cada indivíduo como seu próprio controle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re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040717"/>
            <a:ext cx="9784080" cy="36909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Sem pareamento, a variabilidade entre indivíduos domina o sinal. Pareando, cada diferença individual é removida.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43200"/>
            <a:ext cx="1371600" cy="9144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Tipos de estudo e variáveis de confusão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6B6457"/>
                </a:solidFill>
                <a:latin typeface="Georgia"/>
              </a:rPr>
              <a:t>Quando podemos afirmar causalidade?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TIPOS DE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Experimento verdadeiro vs. estudo observacional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657600" cy="512064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DF8"/>
                </a:solidFill>
                <a:latin typeface="Georgia"/>
              </a:rPr>
              <a:t>Característica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83080"/>
            <a:ext cx="7253935" cy="512064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865376"/>
            <a:ext cx="70710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DF8"/>
                </a:solidFill>
                <a:latin typeface="Georgia"/>
              </a:rPr>
              <a:t>Experimento controlado      |      Estudo observacional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95144"/>
            <a:ext cx="3657600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5915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Variável manipulada?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95144"/>
            <a:ext cx="7253935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359152"/>
            <a:ext cx="70710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Sim, pelo pesquisador              |      Não — apenas observada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3657600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71216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Aleatorização?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807208"/>
            <a:ext cx="7253935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2871216"/>
            <a:ext cx="70710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Sim (RCT)                                 |      Não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19272"/>
            <a:ext cx="3657600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832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Permite causalidade?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319272"/>
            <a:ext cx="7253935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3383280"/>
            <a:ext cx="70710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Sim                                           |      Não — apenas associação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31336"/>
            <a:ext cx="3657600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9534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Controla confundidores?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831336"/>
            <a:ext cx="7253935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3895344"/>
            <a:ext cx="70710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Por aleatorização              |      Parcialmente (propensity score, etc.)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43400"/>
            <a:ext cx="3657600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40740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Exemplos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343400"/>
            <a:ext cx="7253935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4407408"/>
            <a:ext cx="70710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Ensaio clínico, RCBD                |      Coorte, caso-controle, transversal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TIPOS DE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Variável de confusão: o culpado escondido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Um confundidor está associado tanto à exposição quanto ao desfecho — e não é intermediário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Sem controle, seu efeito se mistura ao do tratamento e distorce a estimativa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Exemplo histórico: motoristas de ônibus tinham mais doença coronariana do que cobradores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A diferença real era sedentarismo (motoristas ficam sentados), não o emprego em si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A solução foi estratificar por tipo de atividade — e o efeito do exercício emergiu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Aleatorização distribui confundidores conhecidos E desconhecidos — a vantagem do experimento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Café e câncer de pulmão: fumantes bebem mais café. O tabagismo é o confundidor; sem controlá-lo, o café parece cancerígeno.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43200"/>
            <a:ext cx="1371600" cy="9144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Poder estatístico e cálculo amostral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6B6457"/>
                </a:solidFill>
                <a:latin typeface="Georgia"/>
              </a:rPr>
              <a:t>Quantos sujeitos preciso para responder minha pergunta?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PODER ESTATÍSTICO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Os dois tipos de erro e o que os controla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200400" cy="512064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840480" y="1783080"/>
            <a:ext cx="7711135" cy="512064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1865376"/>
            <a:ext cx="75282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DF8"/>
                </a:solidFill>
                <a:latin typeface="Georgia"/>
              </a:rPr>
              <a:t>H₀ é verdadeira          |          H₀ é falsa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95144"/>
            <a:ext cx="3200400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5915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Não rejeitamos H₀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295144"/>
            <a:ext cx="7711135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359152"/>
            <a:ext cx="75282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Decisão correta (1 − α)   |   Erro tipo II  (β)  — falso negativo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3200400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7121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Rejeitamos H₀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807208"/>
            <a:ext cx="7711135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0208" y="2871216"/>
            <a:ext cx="75282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Erro tipo I  (α)               |   Decisão correta  (poder = 1 − β)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19272"/>
            <a:ext cx="3200400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8328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O que controla?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319272"/>
            <a:ext cx="7711135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3383280"/>
            <a:ext cx="75282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Nível de significância α  |   n, efeito real, σ, 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31336"/>
            <a:ext cx="3200400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9534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Consequência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831336"/>
            <a:ext cx="7711135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0208" y="3895344"/>
            <a:ext cx="75282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Alarme falso                        |   Perde efeito real — estudo inconclusivo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PODER ESTATÍSTICO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Poder: a chance de detectar o que existe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Poder = 1 − β = P(rejeitar H₀ | H₁ é verdadeira)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Convenção: queremos poder ≥ 80 % (β ≤ 20 %)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Quatro fatores controlam o poder — fixados três, o quarto está determinado: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–  ↑ n  →  ↑ poder (mais informação = menos incerteza)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–  ↑ δ (efeito real)  →  ↑ poder (sinal maior é mais fácil de ver)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–  ↑ σ (variabilidade)  →  ↓ poder (ruído esconde o sinal)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–  ↑ α  →  ↑ poder, mas ↑ erro tipo I (tradeoff)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52649" y="4617719"/>
            <a:ext cx="9256221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16426cd517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689" y="4823459"/>
            <a:ext cx="8616141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PODER ESTATÍSTICO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Os quatro quadrantes: efeito × variabilidade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uadr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813" y="1874519"/>
            <a:ext cx="5967894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A combinação de tamanho de efeito e variabilidade determina o esforço amostral necessário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CÁLCULO AMOSTRAL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Quantos sujeitos preciso?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pergunta central do planejamento: quantos indivíduos para 80 % de poder, α = 0,05?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Para comparação de duas médias (teste t, Welch):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–  d = δ/σ é o tamanho de efeito padronizado (Cohen's d)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–  z₀.₉₇₅ ≈ 1,96  e  z₀.₈₀ ≈ 0,84 para poder = 80 %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Exemplo: d = 0,5 (efeito médio) → n ≈ 64 por grupo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Exemplo: d = 0,2 (efeito pequeno) → n ≈ 394 por grupo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–  Dobrar a precisão exige quatro vezes mais sujeitos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2211" y="4617719"/>
            <a:ext cx="5877098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9e953ebbcd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251" y="4823459"/>
            <a:ext cx="5237018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CÁLCULO AMOSTRAL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Poder em função do n: curvas para diferentes efeitos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der_cur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896" y="1874519"/>
            <a:ext cx="6881728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Efeito grande (d = 0,8): poucos sujeitos bastam. Efeito pequeno (d = 0,2): centenas. A linha tracejada marca poder = 80 %.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43200"/>
            <a:ext cx="1371600" cy="9144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Significância, relevância e tamanho de efeito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6B6457"/>
                </a:solidFill>
                <a:latin typeface="Georgia"/>
              </a:rPr>
              <a:t>Um p-valor pequeno não significa que o efeito importa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SIGNIFICÂNCIA VS. RELEVÂNCIA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Significativo não é o mesmo que importante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Significância estatística: a diferença é grande o bastante para ser detectada pelo design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Relevância clínica/biológica: a diferença é grande o bastante para importar na prática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Com n enorme qualquer diferença minúscula pode ser estatisticamente significativa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Exemplo: diferença de 0,1 ponto de QI entre primogênitos e caçulas — p &lt; 0,001 em estudo com 250 000 pares, mas clinicamente irrelevante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O que importa: o tamanho do efeito e seu intervalo de confiança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Reporte sempre: valor-p + tamanho de efeito + IC 95 %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Antitérmico reduz febre em 0,1 °C: p = 0,02 com n grande. Estatisticamente significativo, clinicamente inútil.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TAMANHO DE EFEITO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Medidas de tamanho de efeito padronizadas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2926080" cy="512064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DF8"/>
                </a:solidFill>
                <a:latin typeface="Georgia"/>
              </a:rPr>
              <a:t>Medida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783080"/>
            <a:ext cx="7985455" cy="512064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865376"/>
            <a:ext cx="780257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DF8"/>
                </a:solidFill>
                <a:latin typeface="Georgia"/>
              </a:rPr>
              <a:t>Quando usar                          |   Pequeno   Médio   Grande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95144"/>
            <a:ext cx="2926080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5915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Cohen's 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295144"/>
            <a:ext cx="7985455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2359152"/>
            <a:ext cx="780257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Diferença de duas médias (t)              |     0,2        0,5        0,8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2926080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7121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Cohen's 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807208"/>
            <a:ext cx="7985455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8" y="2871216"/>
            <a:ext cx="780257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ANOVA (variação entre grupos)          |     0,10      0,25      0,40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19272"/>
            <a:ext cx="2926080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832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Cohen's 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319272"/>
            <a:ext cx="7985455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8" y="3383280"/>
            <a:ext cx="780257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Qui-quadrado (tabelas de conting.)   |     0,10      0,30      0,50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31336"/>
            <a:ext cx="2926080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9534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r de Pearson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831336"/>
            <a:ext cx="7985455" cy="512064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75888" y="3895344"/>
            <a:ext cx="780257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Correlação linear                                |     0,10      0,30      0,50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43400"/>
            <a:ext cx="2926080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40740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η² (eta²)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4343400"/>
            <a:ext cx="7985455" cy="512064"/>
          </a:xfrm>
          <a:prstGeom prst="rect">
            <a:avLst/>
          </a:prstGeom>
          <a:solidFill>
            <a:srgbClr val="ECE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5888" y="4407408"/>
            <a:ext cx="780257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Georgia"/>
              </a:rPr>
              <a:t>Variância explicada pela ANOVA       |     0,01      0,06      0,14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COMO ESCOLHER O TESTE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Cinco perguntas que decidem o teste estatístico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DF8"/>
                </a:solidFill>
                <a:latin typeface="Consolas"/>
              </a:rPr>
              <a:t>Q1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828800"/>
            <a:ext cx="10241280" cy="777240"/>
          </a:xfrm>
          <a:prstGeom prst="roundRect">
            <a:avLst/>
          </a:prstGeom>
          <a:solidFill>
            <a:srgbClr val="FFFDF8"/>
          </a:solidFill>
          <a:ln w="20320">
            <a:solidFill>
              <a:srgbClr val="326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9019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266AD"/>
                </a:solidFill>
                <a:latin typeface="Georgia"/>
              </a:rPr>
              <a:t>Bivariada ou multivariável?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67712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6457"/>
                </a:solidFill>
                <a:latin typeface="Georgia"/>
              </a:rPr>
              <a:t>uma única exposição contra o desfecho, ou ajuste para várias covariáveis?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07208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DF8"/>
                </a:solidFill>
                <a:latin typeface="Consolas"/>
              </a:rPr>
              <a:t>Q2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715768"/>
            <a:ext cx="10241280" cy="777240"/>
          </a:xfrm>
          <a:prstGeom prst="roundRect">
            <a:avLst/>
          </a:prstGeom>
          <a:solidFill>
            <a:srgbClr val="FFFDF8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27889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C0392B"/>
                </a:solidFill>
                <a:latin typeface="Georgia"/>
              </a:rPr>
              <a:t>Diferença ou correlação?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15468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6457"/>
                </a:solidFill>
                <a:latin typeface="Georgia"/>
              </a:rPr>
              <a:t>comparar grupos / medir um efeito, ou medir a associação entre variáveis?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694176"/>
            <a:ext cx="640080" cy="640080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67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DF8"/>
                </a:solidFill>
                <a:latin typeface="Consolas"/>
              </a:rPr>
              <a:t>Q3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3602736"/>
            <a:ext cx="10241280" cy="777240"/>
          </a:xfrm>
          <a:prstGeom prst="roundRect">
            <a:avLst/>
          </a:prstGeom>
          <a:solidFill>
            <a:srgbClr val="FFFDF8"/>
          </a:solidFill>
          <a:ln w="20320"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675888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A7A4A"/>
                </a:solidFill>
                <a:latin typeface="Georgia"/>
              </a:rPr>
              <a:t>Independente ou pareada?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6457"/>
                </a:solidFill>
                <a:latin typeface="Georgia"/>
              </a:rPr>
              <a:t>amostras separadas, ou o mesmo indivíduo (antes–depois, blocos)?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581144"/>
            <a:ext cx="640080" cy="64008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5429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DF8"/>
                </a:solidFill>
                <a:latin typeface="Consolas"/>
              </a:rPr>
              <a:t>Q4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4489704"/>
            <a:ext cx="10241280" cy="777240"/>
          </a:xfrm>
          <a:prstGeom prst="roundRect">
            <a:avLst/>
          </a:prstGeom>
          <a:solidFill>
            <a:srgbClr val="FFFDF8"/>
          </a:solidFill>
          <a:ln w="2032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4562856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B3FA0"/>
                </a:solidFill>
                <a:latin typeface="Georgia"/>
              </a:rPr>
              <a:t>Tipo do desfecho — e normalidade?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2861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6457"/>
                </a:solidFill>
                <a:latin typeface="Georgia"/>
              </a:rPr>
              <a:t>contínua (Normal ou não), ordinal, nominal, tempo até evento, contagem?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468112"/>
            <a:ext cx="640080" cy="640080"/>
          </a:xfrm>
          <a:prstGeom prst="ellipse">
            <a:avLst/>
          </a:prstGeom>
          <a:solidFill>
            <a:srgbClr val="C9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4126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DF8"/>
                </a:solidFill>
                <a:latin typeface="Consolas"/>
              </a:rPr>
              <a:t>Q5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5376672"/>
            <a:ext cx="10241280" cy="777240"/>
          </a:xfrm>
          <a:prstGeom prst="roundRect">
            <a:avLst/>
          </a:prstGeom>
          <a:solidFill>
            <a:srgbClr val="FFFDF8"/>
          </a:solidFill>
          <a:ln w="20320">
            <a:solidFill>
              <a:srgbClr val="C9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1640" y="5449824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C96E1F"/>
                </a:solidFill>
                <a:latin typeface="Georgia"/>
              </a:rPr>
              <a:t>Quantos grupos ou condições?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815584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6457"/>
                </a:solidFill>
                <a:latin typeface="Georgia"/>
              </a:rPr>
              <a:t>duas, ou três ou mais?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DIFERENÇA · GRUPOS INDEPENDENTES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Comparar grupos independentes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572000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56232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DF8"/>
                </a:solidFill>
                <a:latin typeface="Georgia"/>
              </a:rPr>
              <a:t>Tipo do desfecho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783080"/>
            <a:ext cx="2194560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21808" y="185623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DF8"/>
                </a:solidFill>
                <a:latin typeface="Georgia"/>
              </a:rPr>
              <a:t>Nº de grupos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142232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1856232"/>
            <a:ext cx="3959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Georgia"/>
              </a:rPr>
              <a:t>Teste recomendado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13432"/>
            <a:ext cx="4572000" cy="530352"/>
          </a:xfrm>
          <a:prstGeom prst="rect">
            <a:avLst/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86584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Contínua — 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313432"/>
            <a:ext cx="2194560" cy="530352"/>
          </a:xfrm>
          <a:prstGeom prst="rect">
            <a:avLst/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238658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2 grupos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313432"/>
            <a:ext cx="4142232" cy="530352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2386584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DF8"/>
                </a:solidFill>
                <a:latin typeface="Georgia"/>
              </a:rPr>
              <a:t>Teste t (Student / Welch)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43784"/>
            <a:ext cx="4572000" cy="530352"/>
          </a:xfrm>
          <a:prstGeom prst="rect">
            <a:avLst/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916936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Contínua — Normal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843784"/>
            <a:ext cx="2194560" cy="530352"/>
          </a:xfrm>
          <a:prstGeom prst="rect">
            <a:avLst/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29169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&gt;2 grupos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843784"/>
            <a:ext cx="4142232" cy="530352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8" y="2916936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DF8"/>
                </a:solidFill>
                <a:latin typeface="Georgia"/>
              </a:rPr>
              <a:t>ANOVA one-way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74136"/>
            <a:ext cx="4572000" cy="530352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447288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Contínua não-Normal / Ordinal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3374136"/>
            <a:ext cx="2194560" cy="530352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1808" y="344728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2 grupos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374136"/>
            <a:ext cx="4142232" cy="530352"/>
          </a:xfrm>
          <a:prstGeom prst="rect">
            <a:avLst/>
          </a:prstGeom>
          <a:solidFill>
            <a:srgbClr val="C9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3447288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DF8"/>
                </a:solidFill>
                <a:latin typeface="Georgia"/>
              </a:rPr>
              <a:t>Mann–Whitney 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04488"/>
            <a:ext cx="4572000" cy="530352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977640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Contínua não-Normal / Ordinal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3904488"/>
            <a:ext cx="2194560" cy="530352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1808" y="39776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&gt;2 grupos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904488"/>
            <a:ext cx="4142232" cy="530352"/>
          </a:xfrm>
          <a:prstGeom prst="rect">
            <a:avLst/>
          </a:prstGeom>
          <a:solidFill>
            <a:srgbClr val="C9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3977640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DF8"/>
                </a:solidFill>
                <a:latin typeface="Georgia"/>
              </a:rPr>
              <a:t>Kruskal–Wallis 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434840"/>
            <a:ext cx="4572000" cy="530352"/>
          </a:xfrm>
          <a:prstGeom prst="rect">
            <a:avLst/>
          </a:prstGeom>
          <a:solidFill>
            <a:srgbClr val="DC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507992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Nominal (categorias)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4434840"/>
            <a:ext cx="2194560" cy="530352"/>
          </a:xfrm>
          <a:prstGeom prst="rect">
            <a:avLst/>
          </a:prstGeom>
          <a:solidFill>
            <a:srgbClr val="DC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21808" y="450799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2 grupos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434840"/>
            <a:ext cx="4142232" cy="53035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8" y="4507992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DF8"/>
                </a:solidFill>
                <a:latin typeface="Georgia"/>
              </a:rPr>
              <a:t>Qui-quadrado · Fisher exato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965192"/>
            <a:ext cx="4572000" cy="530352"/>
          </a:xfrm>
          <a:prstGeom prst="rect">
            <a:avLst/>
          </a:prstGeom>
          <a:solidFill>
            <a:srgbClr val="DC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038344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Nominal (categorias)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965192"/>
            <a:ext cx="2194560" cy="530352"/>
          </a:xfrm>
          <a:prstGeom prst="rect">
            <a:avLst/>
          </a:prstGeom>
          <a:solidFill>
            <a:srgbClr val="DC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1808" y="50383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&gt;2 grupos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965192"/>
            <a:ext cx="4142232" cy="53035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16368" y="5038344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DF8"/>
                </a:solidFill>
                <a:latin typeface="Georgia"/>
              </a:rPr>
              <a:t>Qui-quadrado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495544"/>
            <a:ext cx="4572000" cy="530352"/>
          </a:xfrm>
          <a:prstGeom prst="rect">
            <a:avLst/>
          </a:prstGeom>
          <a:solidFill>
            <a:srgbClr val="E8D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568696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Tempo até evento (sobrevida)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0" y="5495544"/>
            <a:ext cx="2194560" cy="530352"/>
          </a:xfrm>
          <a:prstGeom prst="rect">
            <a:avLst/>
          </a:prstGeom>
          <a:solidFill>
            <a:srgbClr val="E8D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21808" y="556869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eorgia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5495544"/>
            <a:ext cx="4142232" cy="53035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6368" y="5568696"/>
            <a:ext cx="3959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DF8"/>
                </a:solidFill>
                <a:latin typeface="Georgia"/>
              </a:rPr>
              <a:t>Log-Rank · Kaplan–Meier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DIFERENÇA · GRUPOS PAREADOS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Comparar grupos pareados (mesmo indivíduo / blocos)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57200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56232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DF8"/>
                </a:solidFill>
                <a:latin typeface="Georgia"/>
              </a:rPr>
              <a:t>Tipo do desfecho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783080"/>
            <a:ext cx="219456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21808" y="185623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DF8"/>
                </a:solidFill>
                <a:latin typeface="Georgia"/>
              </a:rPr>
              <a:t>Nº de medidas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783080"/>
            <a:ext cx="4142232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1856232"/>
            <a:ext cx="3959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DF8"/>
                </a:solidFill>
                <a:latin typeface="Georgia"/>
              </a:rPr>
              <a:t>Teste recomendado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23160"/>
            <a:ext cx="4572000" cy="640080"/>
          </a:xfrm>
          <a:prstGeom prst="rect">
            <a:avLst/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96312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Contínua — 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423160"/>
            <a:ext cx="2194560" cy="640080"/>
          </a:xfrm>
          <a:prstGeom prst="rect">
            <a:avLst/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249631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2 medidas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423160"/>
            <a:ext cx="4142232" cy="64008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2496312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Georgia"/>
              </a:rPr>
              <a:t>Teste t pareado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63240"/>
            <a:ext cx="4572000" cy="640080"/>
          </a:xfrm>
          <a:prstGeom prst="rect">
            <a:avLst/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136392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Contínua — Normal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063240"/>
            <a:ext cx="2194560" cy="640080"/>
          </a:xfrm>
          <a:prstGeom prst="rect">
            <a:avLst/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3639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&gt;2 medidas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063240"/>
            <a:ext cx="4142232" cy="64008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8" y="3136392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Georgia"/>
              </a:rPr>
              <a:t>ANOVA de medidas repetidas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03320"/>
            <a:ext cx="4572000" cy="6400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776472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Contínua não-Normal / Ordinal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3703320"/>
            <a:ext cx="2194560" cy="6400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1808" y="377647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2 medidas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703320"/>
            <a:ext cx="4142232" cy="640080"/>
          </a:xfrm>
          <a:prstGeom prst="rect">
            <a:avLst/>
          </a:prstGeom>
          <a:solidFill>
            <a:srgbClr val="C9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3776472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Georgia"/>
              </a:rPr>
              <a:t>Wilcoxon dos postos sinalizados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43400"/>
            <a:ext cx="4572000" cy="6400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416552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Contínua não-Normal / Ordinal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4343400"/>
            <a:ext cx="2194560" cy="640080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1808" y="441655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&gt;2 medidas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343400"/>
            <a:ext cx="4142232" cy="640080"/>
          </a:xfrm>
          <a:prstGeom prst="rect">
            <a:avLst/>
          </a:prstGeom>
          <a:solidFill>
            <a:srgbClr val="C9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4416552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Georgia"/>
              </a:rPr>
              <a:t>Friedman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983480"/>
            <a:ext cx="4572000" cy="640080"/>
          </a:xfrm>
          <a:prstGeom prst="rect">
            <a:avLst/>
          </a:prstGeom>
          <a:solidFill>
            <a:srgbClr val="DC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056632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Nominal (categorias)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4983480"/>
            <a:ext cx="2194560" cy="640080"/>
          </a:xfrm>
          <a:prstGeom prst="rect">
            <a:avLst/>
          </a:prstGeom>
          <a:solidFill>
            <a:srgbClr val="DC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21808" y="505663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2 medidas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983480"/>
            <a:ext cx="4142232" cy="64008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8" y="5056632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Georgia"/>
              </a:rPr>
              <a:t>McNemar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CORRELAÇÃO E PREDIÇÃO MULTIVARIÁVEL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Associação entre variáveis e modelos de predição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29184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562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DF8"/>
                </a:solidFill>
                <a:latin typeface="Georgia"/>
              </a:rPr>
              <a:t>Tipo de análise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783080"/>
            <a:ext cx="402336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41648" y="18562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DF8"/>
                </a:solidFill>
                <a:latin typeface="Georgia"/>
              </a:rPr>
              <a:t>Característica do desfecho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783080"/>
            <a:ext cx="3593592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856232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DF8"/>
                </a:solidFill>
                <a:latin typeface="Georgia"/>
              </a:rPr>
              <a:t>Teste / modelo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0280"/>
            <a:ext cx="3291840" cy="457200"/>
          </a:xfrm>
          <a:prstGeom prst="rect">
            <a:avLst/>
          </a:prstGeom>
          <a:solidFill>
            <a:srgbClr val="F6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134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Correlação bivariada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240280"/>
            <a:ext cx="4023360" cy="457200"/>
          </a:xfrm>
          <a:prstGeom prst="rect">
            <a:avLst/>
          </a:prstGeom>
          <a:solidFill>
            <a:srgbClr val="F6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8" y="23134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Contínua, Normal e linear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240280"/>
            <a:ext cx="3593592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2313432"/>
            <a:ext cx="3410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Georgia"/>
              </a:rPr>
              <a:t>Pearson  (r)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97480"/>
            <a:ext cx="3291840" cy="457200"/>
          </a:xfrm>
          <a:prstGeom prst="rect">
            <a:avLst/>
          </a:prstGeom>
          <a:solidFill>
            <a:srgbClr val="F6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7706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Correlação bivariada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697480"/>
            <a:ext cx="4023360" cy="457200"/>
          </a:xfrm>
          <a:prstGeom prst="rect">
            <a:avLst/>
          </a:prstGeom>
          <a:solidFill>
            <a:srgbClr val="F6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27706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Não-Normal / Ordinal / monotônica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2697480"/>
            <a:ext cx="3593592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2770632"/>
            <a:ext cx="3410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Georgia"/>
              </a:rPr>
              <a:t>Spearman (ρ) · Kendall (τ)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154680"/>
            <a:ext cx="329184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2278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Predição multivariável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154680"/>
            <a:ext cx="402336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1648" y="32278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Desfecho contínuo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3154680"/>
            <a:ext cx="3593592" cy="457200"/>
          </a:xfrm>
          <a:prstGeom prst="rect">
            <a:avLst/>
          </a:prstGeom>
          <a:solidFill>
            <a:srgbClr val="A0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3227832"/>
            <a:ext cx="3410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Georgia"/>
              </a:rPr>
              <a:t>Regressão linear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11880"/>
            <a:ext cx="329184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6850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Predição multivariável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3611880"/>
            <a:ext cx="402336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41648" y="36850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Desfecho ordinal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3611880"/>
            <a:ext cx="3593592" cy="457200"/>
          </a:xfrm>
          <a:prstGeom prst="rect">
            <a:avLst/>
          </a:prstGeom>
          <a:solidFill>
            <a:srgbClr val="A0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3685032"/>
            <a:ext cx="3410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Georgia"/>
              </a:rPr>
              <a:t>Regressão logística ordinal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069080"/>
            <a:ext cx="329184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1422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Predição multivariável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4069080"/>
            <a:ext cx="402336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1648" y="41422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Desfecho nominal (2 níveis)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4069080"/>
            <a:ext cx="3593592" cy="457200"/>
          </a:xfrm>
          <a:prstGeom prst="rect">
            <a:avLst/>
          </a:prstGeom>
          <a:solidFill>
            <a:srgbClr val="A0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4142232"/>
            <a:ext cx="3410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Georgia"/>
              </a:rPr>
              <a:t>Regressão logística binária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26280"/>
            <a:ext cx="329184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45994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Predição multivariável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4526280"/>
            <a:ext cx="402336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41648" y="45994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Desfecho nominal (&gt;2 níveis)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80" y="4526280"/>
            <a:ext cx="3593592" cy="457200"/>
          </a:xfrm>
          <a:prstGeom prst="rect">
            <a:avLst/>
          </a:prstGeom>
          <a:solidFill>
            <a:srgbClr val="A0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599432"/>
            <a:ext cx="3410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Georgia"/>
              </a:rPr>
              <a:t>Regressão logística multinomial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983480"/>
            <a:ext cx="3291840" cy="457200"/>
          </a:xfrm>
          <a:prstGeom prst="rect">
            <a:avLst/>
          </a:prstGeom>
          <a:solidFill>
            <a:srgbClr val="E8D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0566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Predição multivariável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4983480"/>
            <a:ext cx="4023360" cy="457200"/>
          </a:xfrm>
          <a:prstGeom prst="rect">
            <a:avLst/>
          </a:prstGeom>
          <a:solidFill>
            <a:srgbClr val="E8D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41648" y="50566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Tempo até evento (sobrevida)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80" y="4983480"/>
            <a:ext cx="3593592" cy="4572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65008" y="5056632"/>
            <a:ext cx="3410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Georgia"/>
              </a:rPr>
              <a:t>Regressão de Cox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440680"/>
            <a:ext cx="329184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55138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Predição multivariável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31920" y="5440680"/>
            <a:ext cx="4023360" cy="457200"/>
          </a:xfrm>
          <a:prstGeom prst="rect">
            <a:avLst/>
          </a:prstGeom>
          <a:solidFill>
            <a:srgbClr val="FC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41648" y="55138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eorgia"/>
              </a:rPr>
              <a:t>Contagem / taxa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80" y="5440680"/>
            <a:ext cx="3593592" cy="457200"/>
          </a:xfrm>
          <a:prstGeom prst="rect">
            <a:avLst/>
          </a:prstGeom>
          <a:solidFill>
            <a:srgbClr val="A0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65008" y="5513832"/>
            <a:ext cx="3410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Georgia"/>
              </a:rPr>
              <a:t>Regressão de Poisson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DEPOIS DO TESTE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Pós-testes e o que sempre reportar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Uma ANOVA significativa diz que ALGUMA média difere — mas não qual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Tukey HSD: todos os grupos comparados entre si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Dunnett: cada grupo comparado com um único controle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Bonferroni · Šidák: poucas comparações planejadas a priori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Scheffé: combinações lineares de médias (contrastes)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Não-paramétricos: Dunn (após Kruskal–Wallis) · Wilcoxon pareado corrigido (após Friedman)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Antes de qualquer teste: faça um gráfico (histograma, boxplot, dispersão) e cheque suposições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Sempre reporte valor-p + tamanho de efeito + intervalo de confiança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Checklist do bom experimento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Pergunta de pesquisa clara e hipótese pré-registrada antes da coleta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Cálculo amostral feito com tamanho de efeito mínimo relevante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Aleatorização documentada (como foi feita, por quem, quando)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Grupos equilibrados em covariáveis importantes (baseline table)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Cegamento do avaliador quando possível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Análise dos dados cega ou pré-especificada no protocolo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Reporte: valor-p, tamanho de efeito (+ IC 95 %) e poder pós-hoc se negativo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800" b="0" i="0">
                <a:solidFill>
                  <a:srgbClr val="1A1A1A"/>
                </a:solidFill>
                <a:latin typeface="Georgia"/>
              </a:rPr>
              <a:t>–  Um estudo negativo bem dimensionado diz tanto quanto um positivo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Referências e contato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bcc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50001"/>
            <a:ext cx="4114800" cy="1277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749039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Georgia"/>
              </a:rPr>
              <a:t>Material teórico completo e interativo:</a:t>
            </a:r>
          </a:p>
          <a:p>
            <a:r>
              <a:rPr sz="1800" b="0" i="0">
                <a:solidFill>
                  <a:srgbClr val="3266AD"/>
                </a:solidFill>
                <a:latin typeface="Consolas"/>
              </a:rPr>
              <a:t>monteirotorres.github.io/biostat</a:t>
            </a:r>
          </a:p>
          <a:p>
            <a:r>
              <a:rPr sz="800" b="0" i="0">
                <a:solidFill>
                  <a:srgbClr val="1A1A1A"/>
                </a:solidFill>
                <a:latin typeface="Georgia"/>
              </a:rPr>
              <a:t> </a:t>
            </a:r>
          </a:p>
          <a:p>
            <a:r>
              <a:rPr sz="1500" b="0" i="0">
                <a:solidFill>
                  <a:srgbClr val="6B6457"/>
                </a:solidFill>
                <a:latin typeface="Georgia"/>
              </a:rPr>
              <a:t>Notebooks em Python (pandas · seaborn · scipy.stats)</a:t>
            </a:r>
          </a:p>
          <a:p>
            <a:r>
              <a:rPr sz="1500" b="0" i="0">
                <a:solidFill>
                  <a:srgbClr val="6B6457"/>
                </a:solidFill>
                <a:latin typeface="Consolas"/>
              </a:rPr>
              <a:t>Contato: monteirotorres@biof.ufrj.br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Planejamento Experimental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