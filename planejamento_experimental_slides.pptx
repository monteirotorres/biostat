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bccf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917972"/>
            <a:ext cx="3657600" cy="11358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1A1A1A"/>
                </a:solidFill>
                <a:latin typeface="Georgia"/>
              </a:rPr>
              <a:t>Planejamento Experimental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6B6457"/>
                </a:solidFill>
                <a:latin typeface="Consolas"/>
              </a:rPr>
              <a:t>Instituto de Biofísica Carlos Chagas Filho ·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0">
                <a:solidFill>
                  <a:srgbClr val="1A1A1A"/>
                </a:solidFill>
                <a:latin typeface="Georgia"/>
              </a:rPr>
              <a:t>Pedro Torres   ·   Gilberto Weissmuller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PLANEJAMENTO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Nenhuma análise conserta um experimento mal desenhado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O resultado de um estudo depende fundamentalmente de como os dados foram coletados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Uma análise sofisticada não recupera informação que jamais foi registrada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Planejar bem = definir antes da coleta: o que medir, quantos indivíduos, como alocar os tratamentos e quais vieses controlar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O cálculo amostral e o controle de confundidores têm que vir antes do primeiro tubo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Estudos subdimensionados geram 'negativos' que nada provam e 'positivos' que superestimam o efeito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30368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03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Dois grupos de pesquisa investigam o mesmo fármaco. Um planeja com 80 % de poder e detecta o efeito. O outro coleta 'o que deu' e publica um falso negativo.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PLANEJAMENTO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Os quatro pilares de um bom experimento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la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177787"/>
            <a:ext cx="11640312" cy="35997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Controle · Aleatorização · Repetição · Pareamento — os pilares do desenho experimental clássico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PILAR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Controle: isolar o que se quer estudar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Manter constantes todas as variáveis que não estão sendo manipuladas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Grupo controle recebe placebo ou condição padrão nas mesmas condições do grupo experimental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Mesmo observador, mesmo equipamento, mesmo momento do dia — quando possível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Variações não controladas inflam a variabilidade e reduzem o poder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Exemplo clássico: se um grupo é medido de manhã e o outro à tarde, qualquer diferença pode ser ritmo circadiano, não o tratamento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30368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03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Experimento de comportamento animal: todos os camundongos do mesmo sexo, mesma gaiola, mesma ração, testados na mesma janela de tempo.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PILAR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Aleatorização: o único antídoto para o confundidor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Sortear quem recebe cada tratamento distribui aleatoriamente os confundidores não conhecidos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Sem aleatorização, grupos podem diferir em fatores que o pesquisador não mediu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Exemplo: se pacientes mais graves tendem a receber o tratamento A, qualquer diferença pode ser gravidade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Aleatorização em blocos: garante equilíbrio por subgrupos (sexo, centro, turno)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Duplo-cego: participante e avaliador desconhecem o grupo — controla viés de expectativa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30368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03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Ensaio clínico: randomização por envelope selado ou gerador de números. Estudos observacionais não podem fazer isso — por isso não provam causalidade.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PILAR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Repetição: o acaso se dilui com o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Qualquer medida individual carrega variabilidade; a média de n medidas tem desvio reduzido por √n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Repetição técnica: mesma amostra medida mais de uma vez (controla erro de medida)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Repetição biológica: amostras de indivíduos diferentes (controla variabilidade biológica)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Os dois tipos não são intercambiáveis: três medidas do mesmo camundongo ≠ três camundongos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O n do cálculo amostral sempre se refere a unidades experimentais independentes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30368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03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qPCR: triplicatas técnicas são controle de pipetagem. Para inferência biológica, precisamos de animais (ou pacientes) independentes.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PILAR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Pareamento: cada indivíduo como seu próprio controle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re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204674"/>
            <a:ext cx="11640312" cy="35459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Sem pareamento, a variabilidade entre indivíduos domina o sinal. Pareando, cada diferença individual é removida.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DESENHOS ESPECIAIS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Planejamento fatorial: vários fatores ao mesmo tempo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Em vez de variar UM fator de cada vez, varia-se TODOS simultaneamente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Notação 2 × 2: dois fatores, dois níveis cada → 4 grupos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Generaliza para 2 × 3, 3 × 3, 2 × 2 × 2, …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Vantagens: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mais EFICIENTE: o mesmo n responde a várias perguntas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revela INTERAÇÕES entre fatores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Analisado por ANOVA fatorial (two-way, three-way)</a:t>
            </a:r>
          </a:p>
        </p:txBody>
      </p:sp>
      <p:pic>
        <p:nvPicPr>
          <p:cNvPr id="7" name="Picture 6" descr="desenho_fato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148503"/>
            <a:ext cx="6400800" cy="36582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DESENHOS ESPECIAIS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Efeitos principais e interação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te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808" y="1691640"/>
            <a:ext cx="11047336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Linhas paralelas → sem interação · linhas não paralelas → o efeito de um fator depende do nível do outro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 i="0">
                <a:solidFill>
                  <a:srgbClr val="3266AD"/>
                </a:solidFill>
                <a:latin typeface="Consolas"/>
              </a:rPr>
              <a:t>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Georgia"/>
              </a:rPr>
              <a:t>Tipos de estudo e variáveis de confusão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6B6457"/>
                </a:solidFill>
                <a:latin typeface="Georgia"/>
              </a:rPr>
              <a:t>Quando podemos afirmar causalidade?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TIPOS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Experimento verdadeiro vs. estudo observacional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657600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Característica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783080"/>
            <a:ext cx="7253935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7408" y="1874520"/>
            <a:ext cx="7071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Experimento controlado      |      Estudo observacional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36576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2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Variável manipulada?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368296"/>
            <a:ext cx="72539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2450592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Sim, pelo pesquisador              |      Não — apenas observada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53512"/>
            <a:ext cx="36576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35808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Aleatorização?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953512"/>
            <a:ext cx="72539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3035808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Sim (RCT)                                 |      Não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38728"/>
            <a:ext cx="36576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21024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Permite causalidade?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3538728"/>
            <a:ext cx="72539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3621024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Sim                                           |      Não — apenas associação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23944"/>
            <a:ext cx="36576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06240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Controla confundidores?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123944"/>
            <a:ext cx="72539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206240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Por aleatorização              |      Parcialmente (propensity score, etc.)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36576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791456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Exemplos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4709160"/>
            <a:ext cx="72539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07408" y="4791456"/>
            <a:ext cx="70710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Ensaio clínico, RCBD                |      Coorte, caso-controle, transversal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TIPOS DE ESTUDO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Variável de confusão: o culpado escondido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Um confundidor está associado tanto à exposição quanto ao desfecho — e não é intermediário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Sem controle, seu efeito se mistura ao do tratamento e distorce a estimativa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Exemplo histórico: motoristas de ônibus tinham mais doença coronariana do que cobradores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A diferença real era sedentarismo (motoristas ficam sentados), não o emprego em si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A solução foi estratificar por tipo de atividade — e o efeito do exercício emergiu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Aleatorização distribui confundidores conhecidos E desconhecidos — a vantagem do experimento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30368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03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Café e câncer de pulmão: fumantes bebem mais café. O tabagismo é o confundidor; sem controlá-lo, o café parece cancerígeno.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 i="0">
                <a:solidFill>
                  <a:srgbClr val="3266AD"/>
                </a:solidFill>
                <a:latin typeface="Consolas"/>
              </a:rPr>
              <a:t>Parte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Georgia"/>
              </a:rPr>
              <a:t>Poder estatístico e cálculo amostral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6B6457"/>
                </a:solidFill>
                <a:latin typeface="Georgia"/>
              </a:rPr>
              <a:t>Quantos sujeitos preciso para responder minha pergunta?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PODER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Os dois tipos de erro e o que os controla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200400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ectangle 7"/>
          <p:cNvSpPr/>
          <p:nvPr/>
        </p:nvSpPr>
        <p:spPr>
          <a:xfrm>
            <a:off x="3840480" y="1783080"/>
            <a:ext cx="7711135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50208" y="1874520"/>
            <a:ext cx="75282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H₀ é verdadeira          |          H₀ é falsa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32004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2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Não rejeitamos H₀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2368296"/>
            <a:ext cx="77111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50208" y="2450592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Decisão correta (1 − α)   |   Erro tipo II  (β)  — falso negativo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53512"/>
            <a:ext cx="32004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35808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Rejeitamos H₀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2953512"/>
            <a:ext cx="77111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0208" y="3035808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Erro tipo I  (α)               |   Decisão correta  (poder = 1 − β)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38728"/>
            <a:ext cx="320040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21024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O que controla?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3538728"/>
            <a:ext cx="771113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3621024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Nível de significância α  |   n, efeito real, σ, 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23944"/>
            <a:ext cx="320040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06240"/>
            <a:ext cx="30175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Consequência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4123944"/>
            <a:ext cx="771113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4206240"/>
            <a:ext cx="752825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Alarme falso                        |   Perde efeito real — estudo inconclusivo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PODER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Poder: a chance de detectar o que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Poder = 1 − β = P(rejeitar H₀ | H₁ é verdadeira)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Convenção: queremos poder ≥ 80 % (β ≤ 20 %)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Quatro fatores controlam o poder — fixados três, o quarto está determinado: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↑ n  →  ↑ poder (mais informação = menos incerteza)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↑ δ (efeito real)  →  ↑ poder (sinal maior é mais fácil de ver)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↑ σ (variabilidade)  →  ↓ poder (ruído esconde o sinal)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↑ α  →  ↑ poder, mas ↑ erro tipo I (tradeoff)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8240" y="4617719"/>
            <a:ext cx="10405040" cy="1188720"/>
          </a:xfrm>
          <a:prstGeom prst="round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_16426cd517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280" y="4823459"/>
            <a:ext cx="976496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PODER ESTATÍSTICO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Os quatro quadrantes: efeito × variabilidade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uadr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7451" y="1691640"/>
            <a:ext cx="701405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A combinação de tamanho de efeito e variabilidade determina o esforço amostral necessário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CÁLCULO AMOSTRAL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Quantos sujeitos preciso?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A pergunta central do planejamento: quantos indivíduos para 80 % de poder, α = 0,05?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Para comparação de duas médias (teste t, Welch):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d = δ/σ é o tamanho de efeito padronizado (Cohen's d)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z₀.₉₇₅ ≈ 1,96  e  z₀.₈₀ ≈ 0,84 para poder = 80 %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Exemplo: d = 0,5 (efeito médio) → n ≈ 64 por grupo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•  Exemplo: d = 0,2 (efeito pequeno) → n ≈ 394 por grupo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000" b="0" i="0">
                <a:solidFill>
                  <a:srgbClr val="1A1A1A"/>
                </a:solidFill>
                <a:latin typeface="Georgia"/>
              </a:rPr>
              <a:t>–  Dobrar a precisão exige quatro vezes mais sujeitos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93076" y="4617719"/>
            <a:ext cx="6575367" cy="1188720"/>
          </a:xfrm>
          <a:prstGeom prst="round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_9e953ebbcd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116" y="4823459"/>
            <a:ext cx="5935287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CÁLCULO AMOSTRAL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Poder em função do n: curvas para diferentes efeitos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der_curv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40" y="1691640"/>
            <a:ext cx="10746871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Efeito grande (d = 0,8): poucos sujeitos bastam. Efeito pequeno (d = 0,2): centenas. A linha tracejada marca poder = 80 %.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2743200"/>
            <a:ext cx="1371600" cy="9144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0" i="0">
                <a:solidFill>
                  <a:srgbClr val="3266AD"/>
                </a:solidFill>
                <a:latin typeface="Consolas"/>
              </a:rPr>
              <a:t>Parte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100" b="1" i="0">
                <a:solidFill>
                  <a:srgbClr val="1A1A1A"/>
                </a:solidFill>
                <a:latin typeface="Georgia"/>
              </a:rPr>
              <a:t>Significância, relevância e tamanho de efeito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 i="1">
                <a:solidFill>
                  <a:srgbClr val="6B6457"/>
                </a:solidFill>
                <a:latin typeface="Georgia"/>
              </a:rPr>
              <a:t>Um p-valor pequeno não significa que o efeito importa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SIGNIFICÂNCIA VS. RELEVÂNCIA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Significativo não é o mesmo que importante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Significância estatística: a diferença é grande o bastante para ser detectada pelo design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Relevância clínica/biológica: a diferença é grande o bastante para importar na prática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Com n enorme qualquer diferença minúscula pode ser estatisticamente significativa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Exemplo: diferença de 0,1 ponto de QI entre primogênitos e caçulas — p &lt; 0,001 em estudo com 250 000 pares, mas clinicamente irrelevante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O que importa: o tamanho do efeito e seu intervalo de confiança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Reporte sempre: valor-p + tamanho de efeito + IC 95 %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230368"/>
            <a:ext cx="10515600" cy="1051560"/>
          </a:xfrm>
          <a:prstGeom prst="roundRect">
            <a:avLst/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303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266AD"/>
                </a:solidFill>
                <a:latin typeface="Consolas"/>
              </a:rPr>
              <a:t>EXEMPLO</a:t>
            </a:r>
          </a:p>
          <a:p>
            <a:pPr>
              <a:lnSpc>
                <a:spcPct val="110000"/>
              </a:lnSpc>
            </a:pPr>
            <a:r>
              <a:rPr sz="1600" b="0" i="0">
                <a:solidFill>
                  <a:srgbClr val="1A1A1A"/>
                </a:solidFill>
                <a:latin typeface="Georgia"/>
              </a:rPr>
              <a:t>Antitérmico reduz febre em 0,1 °C: p = 0,02 com n grande. Estatisticamente significativo, clinicamente inútil.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TAMANHO DE EFEITO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Medidas de tamanho de efeito padronizadas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926080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74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Medida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783080"/>
            <a:ext cx="7985455" cy="585216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8" y="1874520"/>
            <a:ext cx="78025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FFFDF8"/>
                </a:solidFill>
                <a:latin typeface="Georgia"/>
              </a:rPr>
              <a:t>Quando usar                          |   Pequeno   Médio   Grande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68296"/>
            <a:ext cx="292608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450592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Cohen's 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368296"/>
            <a:ext cx="798545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450592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Diferença de duas médias (t)              |     0,2        0,5        0,8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53512"/>
            <a:ext cx="292608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035808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Cohen's 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953512"/>
            <a:ext cx="798545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3035808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ANOVA (variação entre grupos)          |     0,10      0,25      0,40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38728"/>
            <a:ext cx="292608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621024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Cohen's 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538728"/>
            <a:ext cx="798545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5888" y="3621024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Qui-quadrado (tabelas de conting.)   |     0,10      0,30      0,50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23944"/>
            <a:ext cx="2926080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06240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r de Pearson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66160" y="4123944"/>
            <a:ext cx="7985455" cy="585216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75888" y="4206240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Correlação linear                                |     0,10      0,30      0,50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2926080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791456"/>
            <a:ext cx="27432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η² (eta²)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4709160"/>
            <a:ext cx="7985455" cy="585216"/>
          </a:xfrm>
          <a:prstGeom prst="rect">
            <a:avLst/>
          </a:prstGeom>
          <a:solidFill>
            <a:srgbClr val="ECE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75888" y="4791456"/>
            <a:ext cx="780257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Georgia"/>
              </a:rPr>
              <a:t>Variância explicada pela ANOVA       |     0,01      0,06      0,14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COMO ESCOLHER O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Cinco perguntas que decidem o teste estatístico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20"/>
            <a:ext cx="640080" cy="640080"/>
          </a:xfrm>
          <a:prstGeom prst="ellipse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783080"/>
            <a:ext cx="10241280" cy="850392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3266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1847088"/>
            <a:ext cx="9966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3266AD"/>
                </a:solidFill>
                <a:latin typeface="Georgia"/>
              </a:rPr>
              <a:t>Bivariada ou multivariável?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249424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uma única exposição contra o desfecho, ou ajuste para várias covariáveis?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16352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950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724912"/>
            <a:ext cx="10241280" cy="850392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2788920"/>
            <a:ext cx="9966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C0392B"/>
                </a:solidFill>
                <a:latin typeface="Georgia"/>
              </a:rPr>
              <a:t>Diferença ou correlação?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91256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comparar grupos / medir um efeito, ou medir a associação entre variáveis?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758184"/>
            <a:ext cx="640080" cy="640080"/>
          </a:xfrm>
          <a:prstGeom prst="ellipse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3133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3666744"/>
            <a:ext cx="10241280" cy="850392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3730752"/>
            <a:ext cx="9966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1A7A4A"/>
                </a:solidFill>
                <a:latin typeface="Georgia"/>
              </a:rPr>
              <a:t>Independente ou pareada?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33088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amostras separadas, ou o mesmo indivíduo (antes–depois, blocos)?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700016"/>
            <a:ext cx="640080" cy="640080"/>
          </a:xfrm>
          <a:prstGeom prst="ellipse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77316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4608576"/>
            <a:ext cx="10241280" cy="850392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40" y="4672584"/>
            <a:ext cx="9966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6B3FA0"/>
                </a:solidFill>
                <a:latin typeface="Georgia"/>
              </a:rPr>
              <a:t>Tipo do desfecho — e normalidade?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074920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contínua (Normal ou não), ordinal, nominal, tempo até evento, contagem?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5641848"/>
            <a:ext cx="640080" cy="640080"/>
          </a:xfrm>
          <a:prstGeom prst="ellipse">
            <a:avLst/>
          </a:prstGeom>
          <a:solidFill>
            <a:srgbClr val="C96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7150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DF8"/>
                </a:solidFill>
                <a:latin typeface="Consolas"/>
              </a:rPr>
              <a:t>Q5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5550408"/>
            <a:ext cx="10241280" cy="850392"/>
          </a:xfrm>
          <a:prstGeom prst="roundRect">
            <a:avLst/>
          </a:prstGeom>
          <a:solidFill>
            <a:srgbClr val="FFFDF8"/>
          </a:solidFill>
          <a:ln w="20320">
            <a:solidFill>
              <a:srgbClr val="C96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91640" y="5614416"/>
            <a:ext cx="9966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 i="0">
                <a:solidFill>
                  <a:srgbClr val="C96E1F"/>
                </a:solidFill>
                <a:latin typeface="Georgia"/>
              </a:rPr>
              <a:t>Quantos grupos ou condições?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6016752"/>
            <a:ext cx="9966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6B6457"/>
                </a:solidFill>
                <a:latin typeface="Georgia"/>
              </a:rPr>
              <a:t>duas, ou três ou mais?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74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COMO ESCOLHER O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Guia completo de escolha do teste estatístico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35024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uia_test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3489" y="1481328"/>
            <a:ext cx="6961973" cy="4718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23620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6B6457"/>
                </a:solidFill>
                <a:latin typeface="Georgia"/>
              </a:rPr>
              <a:t>A guide for choosing the most common statistical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DEPOIS DO TESTE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Pós-testes e o que sempre reportar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Uma ANOVA significativa diz que ALGUMA média difere — mas não qual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Tukey HSD: todos os grupos comparados entre si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Dunnett: cada grupo comparado com um único controle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Bonferroni · Šidák: poucas comparações planejadas a priori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Scheffé: combinações lineares de médias (contrastes)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Não-paramétricos: Dunn (após Kruskal–Wallis) · Wilcoxon pareado corrigido (após Friedman)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Antes de qualquer teste: faça um gráfico (histograma, boxplot, dispersão) e cheque suposições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Sempre reporte valor-p + tamanho de efeito + intervalo de confiança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6B6457"/>
                </a:solidFill>
                <a:latin typeface="Consolas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Checklist do bom experimento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5448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Pergunta de pesquisa clara e hipótese pré-registrada antes da coleta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Cálculo amostral feito com tamanho de efeito mínimo relevante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Aleatorização documentada (como foi feita, por quem, quando)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Grupos equilibrados em covariáveis importantes (baseline table)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Cegamento do avaliador quando possível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Análise dos dados cega ou pré-especificada no protocolo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2300" b="0" i="0">
                <a:solidFill>
                  <a:srgbClr val="1A1A1A"/>
                </a:solidFill>
                <a:latin typeface="Georgia"/>
              </a:rPr>
              <a:t>•  Reporte: valor-p, tamanho de efeito (+ IC 95 %) e poder pós-hoc se negativo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2100" b="0" i="0">
                <a:solidFill>
                  <a:srgbClr val="1A1A1A"/>
                </a:solidFill>
                <a:latin typeface="Georgia"/>
              </a:rPr>
              <a:t>–  Um estudo negativo bem dimensionado diz tanto quanto um positivo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A1A1A"/>
                </a:solidFill>
                <a:latin typeface="Georgia"/>
              </a:rPr>
              <a:t>Referências e contato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63040"/>
            <a:ext cx="1005840" cy="45720"/>
          </a:xfrm>
          <a:prstGeom prst="rect">
            <a:avLst/>
          </a:prstGeom>
          <a:solidFill>
            <a:srgbClr val="3266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bccf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50001"/>
            <a:ext cx="4114800" cy="12778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749039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0" i="0">
                <a:solidFill>
                  <a:srgbClr val="1A1A1A"/>
                </a:solidFill>
                <a:latin typeface="Georgia"/>
              </a:rPr>
              <a:t>Material teórico completo e interativo:</a:t>
            </a:r>
          </a:p>
          <a:p>
            <a:r>
              <a:rPr sz="2100" b="0" i="0">
                <a:solidFill>
                  <a:srgbClr val="3266AD"/>
                </a:solidFill>
                <a:latin typeface="Consolas"/>
              </a:rPr>
              <a:t>monteirotorres.github.io/biostat</a:t>
            </a:r>
          </a:p>
          <a:p>
            <a:r>
              <a:rPr sz="900" b="0" i="0">
                <a:solidFill>
                  <a:srgbClr val="1A1A1A"/>
                </a:solidFill>
                <a:latin typeface="Georgia"/>
              </a:rPr>
              <a:t> </a:t>
            </a:r>
          </a:p>
          <a:p>
            <a:r>
              <a:rPr sz="1700" b="0" i="0">
                <a:solidFill>
                  <a:srgbClr val="6B6457"/>
                </a:solidFill>
                <a:latin typeface="Georgia"/>
              </a:rPr>
              <a:t>Notebooks em Python (pandas · seaborn · scipy.stats)</a:t>
            </a:r>
          </a:p>
          <a:p>
            <a:r>
              <a:rPr sz="1700" b="0" i="0">
                <a:solidFill>
                  <a:srgbClr val="6B6457"/>
                </a:solidFill>
                <a:latin typeface="Consolas"/>
              </a:rPr>
              <a:t>Contato: monteirotorres@biof.ufrj.br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37376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B6457"/>
                </a:solidFill>
                <a:latin typeface="Consolas"/>
              </a:rPr>
              <a:t>Planejamento Experimental · IBCCF · UFRJ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373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6B6457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