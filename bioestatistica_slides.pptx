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bccf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032272"/>
            <a:ext cx="3657600" cy="11358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56032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A1A1A"/>
                </a:solidFill>
                <a:latin typeface="Georgia"/>
              </a:rPr>
              <a:t>Bioestatística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6457"/>
                </a:solidFill>
                <a:latin typeface="Consolas"/>
              </a:rPr>
              <a:t>Instituto de Biofísica Carlos Chagas Filho ·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Georgia"/>
              </a:rPr>
              <a:t>Pedro Torres   ·   Gilberto Weissmuller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280160" cy="109728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3266AD"/>
                </a:solidFill>
                <a:latin typeface="Consolas"/>
              </a:rPr>
              <a:t>Parte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 i="0">
                <a:solidFill>
                  <a:srgbClr val="1A1A1A"/>
                </a:solidFill>
                <a:latin typeface="Georgia"/>
              </a:rPr>
              <a:t>Introdução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INTRODUÇÃO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Amostra e população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População: todos os indivíduos de interesse — parâmetros μ e σ, em geral desconhecidos.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Amostra: subconjunto que medimos — estatísticas x̄ e s, calculadas dos dados.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 amostragem aleatória é o que permite generalizar da amostra para a população.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Ideia central: medimos a amostra para aprender sobre a população.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INTRODUÇÃO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Descrição vs. inferência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Estatística descritiva: resume os dados que temos em mãos.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Estatística inferencial: generaliza para a população, sempre com incerteza.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 inferência quantifica essa incerteza — ela não a elimina.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Regra de ouro: descreva os dados antes de inferir qualquer coisa.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INTRODUÇÃO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Precisão e acurácia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ci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509747"/>
            <a:ext cx="10058400" cy="30272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Acurácia: proximidade do valor verdadeiro. Precisão: consistência entre as medidas.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INTRODUÇÃO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Algarismos significativos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Refletem a precisão real do instrumento de medida.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Zeros à esquerda não contam; à direita após a vírgula, contam.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Em operações, o resultado segue o termo menos preciso.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Notação científica elimina a ambiguidade dos zeros.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INTRODUÇÃO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Tipos de variáveis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Qualitativas: nominais (sem ordem) e ordinais (com ordem).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Quantitativas: discretas (contagens) e contínuas (medidas).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O tipo da variável determina o gráfico e o teste adequados.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INTRODUÇÃO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Histogramas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ist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181" y="1920240"/>
            <a:ext cx="7728598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O histograma revela forma, centro, dispersão e a presença de outliers.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INTRODUÇÃO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Curva normal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761" y="1920240"/>
            <a:ext cx="7587438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Definida por μ e σ; vale a regra 68–95–99,7 e a padronização Z = (X − μ)/σ.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INTRODUÇÃO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Técnicas de amostragem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Amostragem probabilística: aleatória simples, estratificada, conglomerados.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 aleatorização neutraliza as variáveis de confusão.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Voluntários geram viés de seleção — evite-os ao comparar intervenções.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Pareamento e blocos reduzem a variabilidade conhecida.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280160" cy="109728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3266AD"/>
                </a:solidFill>
                <a:latin typeface="Consolas"/>
              </a:rPr>
              <a:t>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 i="0">
                <a:solidFill>
                  <a:srgbClr val="1A1A1A"/>
                </a:solidFill>
                <a:latin typeface="Georgia"/>
              </a:rPr>
              <a:t>Estatística Descritiva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DESCRITIVA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Medidas de tendência central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174" y="1920240"/>
            <a:ext cx="9110611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A média é sensível a valores extremos; a mediana é robusta.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DESCRITIVA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Variações da média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Aritmética: a soma dividida pela contagem.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Ponderada: cada valor entra com um peso.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Geométrica: apropriada para dados multiplicativos (taxas, diluições).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Cortada: descarta os extremos para reduzir o efeito de outliers.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DESCRITIVA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Média vs. mediana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Distribuição simétrica: média e mediana praticamente coincidem.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Distribuição assimétrica: a mediana representa melhor o caso típico.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Sempre olhe o histograma antes de escolher.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DESCRITIVA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Teorema do limite central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662273"/>
            <a:ext cx="10058400" cy="27221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A média de amostras tende à normal: x̄ ~ N(μ, σ²/n), com erro padrão σ/√n.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DESCRITIVA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Dispersão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Amplitude: maior menos o menor valor (sensível a outliers).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Variância: média dos quadrados dos desvios em relação à média.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Desvio padrão: a raiz da variância, na unidade original dos dados.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DESCRITIVA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Boxplot e quartis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534" y="1920240"/>
            <a:ext cx="7713891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O IQR = Q3 − Q1 descreve os 50% centrais e é robusto a outliers.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DESCRITIVA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Coeficiente de variação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CV = s / x̄, expresso em porcentagem — é a dispersão relativa.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Permite comparar variabilidade entre grupos de escalas diferentes.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Só faz sentido em variáveis com zero absoluto.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280160" cy="109728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3266AD"/>
                </a:solidFill>
                <a:latin typeface="Consolas"/>
              </a:rPr>
              <a:t>Parte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 i="0">
                <a:solidFill>
                  <a:srgbClr val="1A1A1A"/>
                </a:solidFill>
                <a:latin typeface="Georgia"/>
              </a:rPr>
              <a:t>Probabilidade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PROBABILIDADE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Eventos e probabilidade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0 ≤ P(A) ≤ 1; o complemento dá P(Aᶜ) = 1 − P(A).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União: P(A ∪ B) = P(A) + P(B) − P(A ∩ B).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Eventos independentes: P(A ∩ B) = P(A) · P(B).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PROBABILIDADE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Probabilidade condicional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P(A | B) = P(A ∩ B) / P(B).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Teorema de Bayes inverte a condicional.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Atenção: P(A | B) ≠ P(B | A) — base do paradoxo diagnóstico.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PROBABILIDADE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Sensibilidade e especificidade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ns_e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807" y="1920240"/>
            <a:ext cx="776934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Sensibilidade = P(+ | doente); especificidade = P(− | saudável). O corte é um trade-off.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PROBABILIDADE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Valor preditivo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VPP: probabilidade de ser doente dado um teste positivo.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VPP e VPN dependem fortemente da prevalência.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Em doenças raras, a maioria dos positivos é falsa, mesmo com bom teste.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PROBABILIDADE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Curva ROC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371" y="1920240"/>
            <a:ext cx="6196217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Mostra o desempenho do teste em todos os cortes; a AUC resume a qualidade.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PROBABILIDADE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Distribuição binomial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363" y="1920240"/>
            <a:ext cx="759623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Conta k sucessos em n tentativas independentes; E[X] = np, Var = np(1 − p).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280160" cy="109728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3266AD"/>
                </a:solidFill>
                <a:latin typeface="Consolas"/>
              </a:rPr>
              <a:t>Parte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 i="0">
                <a:solidFill>
                  <a:srgbClr val="1A1A1A"/>
                </a:solidFill>
                <a:latin typeface="Georgia"/>
              </a:rPr>
              <a:t>Distribuições amostrais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DISTRIBUIÇÕES AMOSTRAIS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De onde vêm t, χ² e F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st_amo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555522"/>
            <a:ext cx="10058400" cy="293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Todas surgem da amostragem de variáveis normais; dependem dos graus de liberdade.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DISTRIBUIÇÕES AMOSTRAIS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As três distribuições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χ² (qui-quadrado): soma de quadrados de normais — base de variâncias e tabelas.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t de Student: média padronizada com σ estimado; tem caudas mais pesadas.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F: razão de duas variâncias — base da ANOVA.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Com muitos graus de liberdade, tudo se aproxima da normal.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280160" cy="109728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3266AD"/>
                </a:solidFill>
                <a:latin typeface="Consolas"/>
              </a:rPr>
              <a:t>Parte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 i="0">
                <a:solidFill>
                  <a:srgbClr val="1A1A1A"/>
                </a:solidFill>
                <a:latin typeface="Georgia"/>
              </a:rPr>
              <a:t>Estatística Inferencial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Lógica da inferência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Assume-se H₀ verdadeira e calcula-se a probabilidade dos dados.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Se essa probabilidade é muito baixa, rejeita-se H₀.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É um filtro consensual contra o acaso e o viés do pesquisador.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Estimação e intervalo de confiança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345" y="1920240"/>
            <a:ext cx="5060269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IC 95%: ao repetir o estudo, 95% dos intervalos conteriam o parâmetro verdadeiro.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Hipóteses H₀ e H₁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H₀: ausência de efeito ou diferença (o status quo).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H₁: existe efeito ou diferença.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Não rejeitar H₀ não é o mesmo que provar H₀.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Nível de significância e valor-p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alo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181" y="1920240"/>
            <a:ext cx="7728598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O valor-p é a probabilidade de dados tão extremos sob H₀; rejeita-se se p &lt; 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Erros tipo I e II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925" y="1920240"/>
            <a:ext cx="771511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α = falso positivo; β = falso negativo; poder = 1 − β (desejável ≥ 80%).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Teste 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Uma amostra: compara a média com um valor de referência.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Duas amostras independentes: compara dois grupos (Welch por padrão).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Pareado: duas medidas no mesmo indivíduo, mais potente.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ANOVA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o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181" y="1920240"/>
            <a:ext cx="7728598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Compara 3+ grupos: F = variância entre grupos / variância dentro dos grupos.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Teste do qui-quadrado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Testa associação entre variáveis categóricas.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Compara contagens observadas com as esperadas sob independência.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Depende do número absoluto de observações, não só das proporções.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Correlação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rrel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592" y="1920240"/>
            <a:ext cx="638577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r de Pearson mede associação linear; correlação não implica causalidade.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Regressão linear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gres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540" y="1920240"/>
            <a:ext cx="639588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457"/>
                </a:solidFill>
                <a:latin typeface="Georgia"/>
              </a:rPr>
              <a:t>Ajusta uma reta por mínimos quadrados; R² é a fração da variância explicada.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INFERENCIAL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Design experimental e potência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020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Pilares: controle, aleatorização, repetição e pareamento.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Significância estatística não é o mesmo que relevância prática.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•  Poder ≥ 80% é a meta; o cálculo amostral deve preceder o estudo.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Georgia"/>
              </a:rPr>
              <a:t>Referências e contato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0876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bccf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41441"/>
            <a:ext cx="4114800" cy="12778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Material teórico completo e interativo:</a:t>
            </a:r>
          </a:p>
          <a:p>
            <a:r>
              <a:rPr sz="1800" b="0" i="0">
                <a:solidFill>
                  <a:srgbClr val="3266AD"/>
                </a:solidFill>
                <a:latin typeface="Consolas"/>
              </a:rPr>
              <a:t>monteirotorres.github.io/biostat</a:t>
            </a:r>
          </a:p>
          <a:p>
            <a:r>
              <a:rPr sz="1000" b="0" i="0">
                <a:solidFill>
                  <a:srgbClr val="1A1A1A"/>
                </a:solidFill>
                <a:latin typeface="Georgia"/>
              </a:rPr>
              <a:t> </a:t>
            </a:r>
          </a:p>
          <a:p>
            <a:r>
              <a:rPr sz="1600" b="0" i="0">
                <a:solidFill>
                  <a:srgbClr val="6B6457"/>
                </a:solidFill>
                <a:latin typeface="Consolas"/>
              </a:rPr>
              <a:t>Contato: monteirotorres@biof.ufrj.br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B6457"/>
                </a:solidFill>
                <a:latin typeface="Consolas"/>
              </a:rPr>
              <a:t>Bioestatística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457"/>
                </a:solidFill>
                <a:latin typeface="Consola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