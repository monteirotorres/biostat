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bcc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917972"/>
            <a:ext cx="3657600" cy="11358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4688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A1A1A"/>
                </a:solidFill>
                <a:latin typeface="Georgia"/>
              </a:rPr>
              <a:t>Bioestatística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6457"/>
                </a:solidFill>
                <a:latin typeface="Consolas"/>
              </a:rPr>
              <a:t>Instituto de Biofísica Carlos Chagas Filho · UFRJ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Georgia"/>
              </a:rPr>
              <a:t>Pedro Torres   ·   Gilberto Weissmuller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A1A1A"/>
                </a:solidFill>
                <a:latin typeface="Georgia"/>
              </a:rPr>
              <a:t>Introdução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Objeto da estatística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estatística trata de coletar, resumir e interpretar dados na presença de variabilidade.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Quase nunca medimos todos os indivíduos de interesse — trabalhamos com amostras.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Duas grandes tarefas: descrever os dados e inferir propriedades da população.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Toda conclusão carrega incerteza, que a estatística quantifica.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Amostra e população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População: o conjunto completo de indivíduos de interesse.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Amostra: o subconjunto que efetivamente medimos.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Medir toda a população costuma ser caro, demorado ou impossível.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amostragem aleatória é o que torna a generalização válida.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Para estimar a altura média dos adultos do país, medimos alguns milhares de pessoas (amostra) e inferimos a média de todos (população).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Parâmetro vs. estatística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Parâmetro: valor verdadeiro da população, em geral desconhecido.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Estatística: valor calculado a partir da amostra, usado para estimar o parâmetro.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média da população é μ; a da amostra é x̄. O desvio padrão é σ (população) e s (amostra).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7261" y="4617719"/>
            <a:ext cx="4286997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51256ba248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301" y="4823459"/>
            <a:ext cx="3646917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Descrição vs. inferência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Estatística descritiva: resume os dados em mãos (médias, gráficos, tabelas).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Estatística inferencial: generaliza da amostra para a população.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descritiva fala só dos dados coletados; a inferencial vai além deles.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Regra de ouro: descreva os dados antes de inferir qualquer coisa.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Precisão e acurácia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ci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13866"/>
            <a:ext cx="9784080" cy="29446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Acurácia = proximidade do valor verdadeiro (viés). Precisão = consistência entre medidas (ruído).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Precisão e acurácia — em números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Acurácia se relaciona ao viés: a diferença entre a média das medidas e o valor verdadeiro.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Precisão se relaciona à dispersão: o desvio padrão das medidas.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Mais medidas reduzem o erro aleatório, mas não corrigem um viés sistemático.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3170" y="4617719"/>
            <a:ext cx="715518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905d1ff110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210" y="4823459"/>
            <a:ext cx="65151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Algarismos significativos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Refletem a precisão real do instrumento; dígitos a mais são ruído.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Zeros à esquerda não contam; zeros à direita após a vírgula contam.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Soma/subtração segue as casas decimais; multiplicação/divisão segue os significativos.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Notação científica elimina a ambiguidade dos zeros.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0,00025 g tem 2 algarismos significativos; em microgramas (250 µg) continua tendo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Notação científica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Escreve números muito grandes ou pequenos como a × 10ⁿ, com 1 ≤ |a| &lt; 10.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Expoente positivo: número grande; negativo: número pequeno.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Em multiplicação e divisão, os expoentes somam e subtraem.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2459" y="4617719"/>
            <a:ext cx="7696601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03b680b5df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499" y="4823459"/>
            <a:ext cx="7056521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Tipos de variáveis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Qualitativas nominais: categorias sem ordem (tipo sanguíneo).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Qualitativas ordinais: categorias com ordem (grau de dor).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Quantitativas discretas: contagens (nº de células).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Quantitativas contínuas: medidas (peso, pressão).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O tipo determina o gráfico e o teste adequados.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Histogramas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ist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474" y="1874519"/>
            <a:ext cx="7392572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Revelam forma, centro, dispersão e outliers. Variável contínua, barras encostadas.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Curva normal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985" y="1874519"/>
            <a:ext cx="7257549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Definida por μ e σ; simétrica; vale a regra 68–95–99,7.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Curva normal — padronização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Qualquer normal pode ser convertida na normal padrão (μ = 0, σ = 1).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O escore Z diz a quantos desvios padrão um valor está da média.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Permite comparar valores de distribuições diferentes e consultar tabelas.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5025" y="4617719"/>
            <a:ext cx="225147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96ca3bd4c3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065" y="4823459"/>
            <a:ext cx="161139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Técnicas de amostragem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Aleatória simples: todos têm a mesma chance.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Estratificada: sorteio dentro de subgrupos homogêneos.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Conglomerados: sorteiam-se grupos inteiros.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Aleatorização neutraliza variáveis de confusão; evite voluntários.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1 ·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Variáveis de confusão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Afetam o desfecho e, ao mesmo tempo, diferem entre os grupos comparados.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Criam associações enganosas e impedem conclusões causais.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aleatorização as distribui igualmente, em média, entre os grupos.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Cobradores de ônibus tinham menos doença cardíaca que motoristas — mas idade, estresse e saúde prévia são confundidores; o estudo mostra associação, não causa.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A1A1A"/>
                </a:solidFill>
                <a:latin typeface="Georgia"/>
              </a:rPr>
              <a:t>Estatística Descritiva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Medidas de tendência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nd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511" y="1874519"/>
            <a:ext cx="8714497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Moda, média e mediana resumem o centro de formas diferentes.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Moda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É o valor que aparece com maior frequência.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Pode ser única, múltipla (bimodal) ou inexistente.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É a única medida de centro que funciona em variáveis categóricas.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No histograma, corresponde ao pico da distribuição.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Média aritmética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Soma de todos os valores dividida pela quantidade.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Usa todos os dados, mas é sensível a valores extremos.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É o ponto de equilíbrio: a soma dos desvios em relação a ela é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7090" y="4617719"/>
            <a:ext cx="1807339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f6cf979bf7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130" y="4823459"/>
            <a:ext cx="1167259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Média ponderada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Cada valor entra com um peso que reflete sua importância.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Quando os pesos são iguais, recai na média aritmética.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Base do valor esperado quando os pesos são probabilidades.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3324" y="4617719"/>
            <a:ext cx="1994871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0cae4bb95e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364" y="4823459"/>
            <a:ext cx="1354791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Média geométrica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Apropriada para dados multiplicativos: taxas de crescimento, diluições, títulos.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É a média aritmética dos logaritmos, revertida pela exponencial.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Sempre ≤ média aritmética; só vale para valores positivos.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85483" y="4617719"/>
            <a:ext cx="3990553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8df6f5a934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523" y="4823459"/>
            <a:ext cx="3350473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Média cortada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Remove uma porcentagem dos valores extremos antes de calcular a média.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Mais robusta a outliers que a média comum.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Cortar 0% é a média; cortar 50% é a mediana.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Em provas de ginástica artística, descartam-se a maior e a menor nota dos juízes.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Mediana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Valor central com os dados ordenados; 50% abaixo e 50% acima.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Com n par, é a média dos dois valores centrais.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Robusta a outliers — pouco afetada por valores extremos.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Média x mediana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Distribuição simétrica: média ≈ mediana.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Assimétrica à direita: média &gt; mediana (renda, tempo de espera).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Assimétrica à esquerda: média &lt; mediana.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Sempre olhe o histograma antes de escolher.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Quartis e percentis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Quartis dividem os dados ordenados em quatro partes iguais.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Q1 (percentil 25), Q2 (mediana), Q3 (percentil 75).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São a base do boxplot e descrevem a distribuição sem supor normalidade.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Teorema do limite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62233"/>
            <a:ext cx="9784080" cy="26479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A média de amostras tende à normal, mesmo com população não normal.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TLC — erro padrão da média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distribuição das médias tem a mesma média μ da população.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Seu desvio padrão é o erro padrão, que diminui com a raiz de 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Por isso amostras maiores dão estimativas mais precisas.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69030" y="4617719"/>
            <a:ext cx="482346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57d03c8fd3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070" y="4823459"/>
            <a:ext cx="418338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Amplitude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Maior valor menos o menor valor.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Simples, mas usa apenas dois valores e é muito sensível a outliers.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Cresce com o tamanho da amostra.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9649" y="4617719"/>
            <a:ext cx="4722222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cb81a11bd7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689" y="4823459"/>
            <a:ext cx="4082142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Desvio médio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Média das distâncias absolutas até a média.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Intuitivo, mas pouco usado por causa do valor absoluto.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Levou ao uso do quadrado dos desvios — variância e desvio padrão.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06732" y="4617719"/>
            <a:ext cx="3948056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a41abe6f9f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772" y="4823459"/>
            <a:ext cx="3307976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Variância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Média dos quadrados dos desvios em relação à média.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Penaliza desvios grandes; fica numa unidade ao quadrado.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amostral divide por n − 1 (correção de Bessel).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6897" y="4617719"/>
            <a:ext cx="4267725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0011e87b87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937" y="4823459"/>
            <a:ext cx="3627645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Desvio padrão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Raiz da variância — volta à unidade original dos dados.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Na normal, vale a regra 68–95–99,7.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É a medida de dispersão mais reportada em ciência.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3084" y="4617719"/>
            <a:ext cx="3875351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68d8af59d4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24" y="4823459"/>
            <a:ext cx="3235271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Desvio padrão e erro padrão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Desvio padrão (s): variabilidade dos indivíduos.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Erro padrão da média (EP): variabilidade da média amostral.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O EP é sempre menor e diminui com amostras maiores.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Em gráficos, sempre diga se a barra é desvio padrão, EP ou 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71310" y="4617719"/>
            <a:ext cx="221890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1c68c48037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350" y="4823459"/>
            <a:ext cx="157882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Boxplot e desvio interquartil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508" y="1874519"/>
            <a:ext cx="7378504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IQR = Q3 − Q1 descreve os 50% centrais e é robusto a outliers.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2 · DESCRITIVA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Coeficiente de variação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Desvio padrão dividido pela média, em porcentagem — dispersão relativa.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Compara variabilidade entre grupos de escalas diferentes.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Só faz sentido em variáveis com zero absoluto.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39738" y="4617719"/>
            <a:ext cx="3882043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57dece446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778" y="4823459"/>
            <a:ext cx="3241963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A1A1A"/>
                </a:solidFill>
                <a:latin typeface="Georgia"/>
              </a:rPr>
              <a:t>Probabilidade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Evento e espaço amostral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Experimento aleatório: resultado não previsível, mas com resultados conhecidos.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Espaço amostral (Ω): conjunto de todos os resultados possíveis.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Evento: um subconjunto do espaço amostral.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probabilidade é um número entre 0 (impossível) e 1 (certo).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Regras de probabilidade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Complemento: a chance de não ocorrer é 1 menos a chance de ocorrer.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União: soma das probabilidades menos a interseção.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Eventos independentes: a interseção é o produto das probabilidades.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617719"/>
            <a:ext cx="923544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fe9e0bdab1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4823459"/>
            <a:ext cx="859536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Probabilidade condicional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Mede a chance de A sabendo que B ocorreu.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Restringe o espaço amostral ao subconjunto em que B é verdade.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Cuidado: P(A | B) geralmente é diferente de P(B | 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1675" y="4617719"/>
            <a:ext cx="347817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7f347d6d35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715" y="4823459"/>
            <a:ext cx="283809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Teorema de Bayes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Inverte a direção de uma probabilidade condicional.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Permite atualizar a probabilidade de uma hipótese diante de uma evidência.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É a base do raciocínio diagnóstico.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32471" y="4617719"/>
            <a:ext cx="389657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e3cc9d4cb0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511" y="4823459"/>
            <a:ext cx="3256498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Análise combinatória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Permutações: contam arranjos em que a ordem importa.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Combinações: contam escolhas em que a ordem não importa.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Base do cálculo de probabilidades na distribuição binomial.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1134" y="4617719"/>
            <a:ext cx="3159252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3f488f0fb7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174" y="4823459"/>
            <a:ext cx="2519172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Mega-Sena: C(60,6) = 50 063 860 resultados; a chance de acertar é 1 nesse total.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Testes binários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Resultado com apenas dois valores: positivo ou negativo.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Quatro cenários: verdadeiro/falso positivo e verdadeiro/falso negativo.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Reduzir um tipo de erro tipicamente aumenta o outro.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Sensibilidade e especificidade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ns_e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986" y="1874519"/>
            <a:ext cx="743154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O ponto de corte equilibra falsos positivos e falsos negativos.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Sensibilidade e especificidade — fórmulas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Sensibilidade: proporção de doentes que o teste detecta.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Especificidade: proporção de saudáveis que o teste descarta.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São propriedades do teste, independentes da prevalência.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9990" y="4617719"/>
            <a:ext cx="6481539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ab2bb4263e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030" y="4823459"/>
            <a:ext cx="5841459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Matriz de confusão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Tabela 2×2 que mostra acertos e erros do teste.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Diagonal = acertos; fora dela, onde o teste se confundiu.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Dela derivam acurácia, sensibilidade, especificidade, VPP e VPN.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Acurácia sozinha engana quando as classes são desbalanceadas.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Valor preditivo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VPP: probabilidade de ser doente dado um teste positivo.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VPN: probabilidade de ser saudável dado um teste negativo.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Dependem fortemente da prevalência da doença.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2331" y="4617719"/>
            <a:ext cx="307685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53691747a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371" y="4823459"/>
            <a:ext cx="2436778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O paradoxo da doença rara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Mesmo um teste excelente gera muitos falsos positivos quando a doença é rara.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maioria dos positivos vem da enorme população de saudáveis.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Por isso testes de triagem são aplicados em grupos de maior risco.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Sensibilidade e especificidade de 99%, prevalência de 0,1%: apenas ~9% dos positivos são realmente doentes.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Curva ROC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352" y="1874519"/>
            <a:ext cx="5926816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Desempenho do teste em todos os cortes; a AUC resume a qualidade.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Distribuição binomial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inom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778" y="1874519"/>
            <a:ext cx="7265963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Número de sucessos em n tentativas independentes com probabilidade 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3 · PROBABILIDADE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Binomial — fórmula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Conta k sucessos em n tentativas independentes de mesma probabilidade p.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média é np e a variância é np(1 − p).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Para n grande, aproxima-se da normal.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3245" y="4617719"/>
            <a:ext cx="595503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316b73b5ff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285" y="4823459"/>
            <a:ext cx="531495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A1A1A"/>
                </a:solidFill>
                <a:latin typeface="Georgia"/>
              </a:rPr>
              <a:t>Distribuições amostrais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4 · DISTRIBUIÇÕES AMOSTRAIS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De onde vêm t, χ² e 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t_amos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58393"/>
            <a:ext cx="9784080" cy="2855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Todas surgem da amostragem de variáveis normais.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4 · DISTRIBUIÇÕES AMOSTRAIS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Graus de liberdade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Número de valores livres ao calcular uma estatística.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Com n valores e a média fixada, só n − 1 desvios são livres.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Quanto maiores os graus de liberdade, mais as distribuições se aproximam da normal.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4 · DISTRIBUIÇÕES AMOSTRAIS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Distribuição qui-quadrado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Soma de quadrados de variáveis normais padrão.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Só assume valores positivos; assimétrica à direita.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Aparece em variâncias e no teste qui-quadrado.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334" y="4617719"/>
            <a:ext cx="5614851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78c8d3e8bd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374" y="4823459"/>
            <a:ext cx="4974771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4 · DISTRIBUIÇÕES AMOSTRAIS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Distribuição t de 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Surge ao padronizar a média usando o desvio padrão estimado 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Tem caudas mais pesadas que a normal — exige mais evidência.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 muitos graus de liberdade, converge para a normal.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5100" y="4617719"/>
            <a:ext cx="1911319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2c396db84b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140" y="4823459"/>
            <a:ext cx="1271239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4 · DISTRIBUIÇÕES AMOSTRAIS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Distribuição 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Razão entre duas variâncias (duas qui-quadrado sobre seus gl).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Base da ANOVA e da comparação de variâncias.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Próxima de 1 quando as variâncias estimam a mesma coisa.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8662" y="4617719"/>
            <a:ext cx="1784195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bce2ff92d3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702" y="4823459"/>
            <a:ext cx="1144115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A1A1A"/>
                </a:solidFill>
                <a:latin typeface="Georgia"/>
              </a:rPr>
              <a:t>Estatística Inferencial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Lógica da inferência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Assume-se H₀ verdadeira e calcula-se a probabilidade dos dados observados.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Se essa probabilidade é muito baixa, rejeita-se H₀.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É a lógica do júri: inocente até que as evidências afastem a dúvida.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É um filtro consensual contra o acaso e o viés.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Estimação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Pontual: um único número estima o parâmetro (x̄ estima μ).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Intervalar: um intervalo de valores plausíveis.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Um bom estimador é não viesado, eficiente e consistente.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Intervalo de confiança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631" y="1874519"/>
            <a:ext cx="4840257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IC 95%: ao repetir o estudo, ~95% dos intervalos conteriam o parâmetro.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Intervalo de confiança — fórmula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Estimativa pontual mais ou menos a margem de erro.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margem depende da variabilidade, do tamanho da amostra e do nível de confiança.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Quadruplicar n reduz a margem pela metade.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6351" y="4617719"/>
            <a:ext cx="228881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a03009bbad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391" y="4823459"/>
            <a:ext cx="1648738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Hipótese nula e alternativa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H₀: ausência de efeito ou diferença (o status quo).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H₁: existe efeito ou diferença.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H₀ é sempre uma igualdade; H₁ pode ser bilateral ou unilateral.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Não rejeitar H₀ não é o mesmo que provar H₀.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Nível de significância (α)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É o risco aceito de rejeitar H₀ quando ela é verdadeira (erro tipo I).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Valor mais comum: 0,05. Áreas exigentes usam 0,01 ou menos.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Deve ser fixado antes de coletar os dados.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Relaciona-se ao IC: confiança + α =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Valor-p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lo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474" y="1874519"/>
            <a:ext cx="7392572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Probabilidade de dados tão ou mais extremos que os observados, sob H₀.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Valor-p — o que NÃO 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Não é a probabilidade de H₀ ser verdadeira.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Não é a probabilidade de o resultado ser por acaso.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Não mede o tamanho nem a importância do efeito.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Reporte sempre o tamanho de efeito e o intervalo de confiança.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Erros tipo I e 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925" y="1874519"/>
            <a:ext cx="737967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α = falso positivo; β = falso negativo; poder = 1 − 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Poder estatístico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Probabilidade de detectar um efeito que realmente existe.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Cresce com o tamanho da amostra, o tamanho do efeito e a redução da variabilidade.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Meta usual: poder ≥ 80%.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5171" y="4617719"/>
            <a:ext cx="423117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e7866f3ad5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211" y="4823459"/>
            <a:ext cx="3591098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Teste z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Compara uma média com um valor de referência quando σ é conhecido.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estatística segue a normal padrão sob H₀.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Raro em pesquisa, pois σ quase nunca é conhecido.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3557" y="4617719"/>
            <a:ext cx="2074405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8250104ea7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597" y="4823459"/>
            <a:ext cx="1434325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Teste t de uma amostra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Compara a média de uma amostra com um valor de referência.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Usa o desvio padrão amostral s; segue a distribuição 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É robusto a desvios moderados da normalidade.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8647" y="4617719"/>
            <a:ext cx="2024225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aa9fc9e28e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687" y="4823459"/>
            <a:ext cx="1384145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Teste t para dois grupos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Compara as médias de dois grupos independentes.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versão de Welch não supõe variâncias iguais — recomendada por padrão.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Reporte também o tamanho de efeito (d de Cohen).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4143" y="4617719"/>
            <a:ext cx="2673234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edfec35547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83" y="4823459"/>
            <a:ext cx="2033154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Teste t pareado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Cada indivíduo é medido duas vezes (antes e depois).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Testa se a média das diferenças é zero.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Elimina a variabilidade entre indivíduos — mais potente.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Pressão arterial antes e depois de um remédio, no mesmo paciente.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ANOVA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o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474" y="1874519"/>
            <a:ext cx="7392572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Compara 3+ grupos sem inflar o erro tipo 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ANOVA — a estatística 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Compara a variância entre grupos com a variância dentro dos grupos.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Se as médias são iguais, F ≈ 1; se diferem, F cresce.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Rejeitar H₀ indica que alguma média difere — testes post hoc dizem qual.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48143" y="4617719"/>
            <a:ext cx="1865233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534cd67657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83" y="4823459"/>
            <a:ext cx="1225153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Teste do qui-quadrado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Testa associação entre variáveis categóricas.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Compara contagens observadas com as esperadas sob independência.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Depende do número absoluto de observações, não só das proporções.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8541" y="4617719"/>
            <a:ext cx="2904437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68b3c433c0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581" y="4823459"/>
            <a:ext cx="2264357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Correlação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93" y="1874519"/>
            <a:ext cx="6108134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r de Pearson mede a associação linear; resíduos em vermelho.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Correlação — coeficiente de Pearson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Varia de −1 a +1; o sinal indica a direção da associação.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r² é a fração da variância de uma variável explicada pela outra.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Correlação não implica causalidade.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Pearson só capta relações lineares — sempre faça o gráfico.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6666" y="4617719"/>
            <a:ext cx="346818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fcbdd9c712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706" y="4823459"/>
            <a:ext cx="2828108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Regressão linear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gres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861" y="1874519"/>
            <a:ext cx="611779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Ajusta uma reta por mínimos quadrados; R² mede a qualidade do ajuste.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Regressão — mínimos quadrados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reta minimiza a soma dos quadrados dos resíduos.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inclinação diz quanto y muda por unidade de x.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Não extrapole muito além do intervalo observado.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9541" y="4617719"/>
            <a:ext cx="318243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fd163e5e8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581" y="4823459"/>
            <a:ext cx="2542358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Testes não paramétricos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Dispensam a suposição de normalidade; trabalham com postos.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Mann–Whitney substitui o t independente; Wilcoxon, o pareado.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Kruskal–Wallis substitui a ANOVA.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Menos potentes quando a normalidade vale, mas mais robustos.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Design experimental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Pilares: controle, aleatorização, repetição e pareamento.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Experimento verdadeiro permite causa; estudo observacional, só associação.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Significância estatística não é o mesmo que relevância prática.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5 · INFERENCIAL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Cálculo amostral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Define quantos indivíduos são necessários para um dado poder.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Depende do tamanho de efeito, da variabilidade e de α.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Deve ser feito antes do estudo — estudos subdimensionados são problemáticos.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2677" y="4617719"/>
            <a:ext cx="3836166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c99bfecfaf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717" y="4823459"/>
            <a:ext cx="3196086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A1A1A"/>
                </a:solidFill>
                <a:latin typeface="Georgia"/>
              </a:rPr>
              <a:t>Tabelas estatísticas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6 · TABELAS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Valores críticos mais usados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z para IC 90% = 1,645; 95% = 1,960; 99% = 2,576.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Tabela t: valores maiores que z para amostras pequenas, convergindo a z.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Tabela χ²: cauda direita, usada em aderência e contingência.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Tabela F: usada em ANOVA, com dois graus de liberdade.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6 · TABELAS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Tabela ou computador?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Hoje usamos o computador (scipy.stats) para qualquer valor crítico.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Saber ler uma tabela ajuda a entender o que o software faz.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stats.norm.ppf, stats.t.ppf, stats.chi2.ppf e stats.f.ppf dão os valores.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2834" y="4617719"/>
            <a:ext cx="5995851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74edccc3cb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874" y="4823459"/>
            <a:ext cx="5355771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A1A1A"/>
                </a:solidFill>
                <a:latin typeface="Georgia"/>
              </a:rPr>
              <a:t>Exercícios resolvidos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Algarismos significativos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Numa balança de 5 casas lê-se 0,00025 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Quantos algarismos significativos tem a leitura? E em microgramas (250 µg)?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2 algarismos significativos. Trocar a unidade não muda nada: 250 µg também tem 2 — é uma propriedade da medida, não da unidade.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Probabilidade condicional (Bayes)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Doença com prevalência 0,01%; sensibilidade 99%; especificidade 95%.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O teste deu positivo. Qual a probabilidade de a pessoa ter a doença?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86647" y="4617719"/>
            <a:ext cx="7788226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a2095517fa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687" y="4823459"/>
            <a:ext cx="7148146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Mesmo com um teste ótimo, a doença é tão rara que quase todos os positivos são falsos. Ainda assim, a chance subiu de 0,01% para 0,2% (20×).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Megasena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Qual a probabilidade de ganhar com o jogo mínimo (6 números entre 60)?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3336" y="4617719"/>
            <a:ext cx="529484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1875c3c322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376" y="4823459"/>
            <a:ext cx="4654768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Cerca de 0,000002%. Pode-se obter o mesmo encadeando 6/60 · 5/59 · ... · 1/55.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Distribuição binomial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Prova com 10 questões, 5 alternativas cada, só uma correta.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Qual a chance de passar (nota ≥ 5) apenas no chute?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617719"/>
            <a:ext cx="10424160" cy="100807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856933ef9c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823459"/>
            <a:ext cx="9784080" cy="5965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Cerca de 3,3%. A nota mais provável no chute é 2. Com 20 questões, a chance cai para ~0,26%.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Distribuição normal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Pressão arterial ~ N(100, 10). Que percentual está entre 80 e 120 mmHg?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Acima de qual valor está apenas 1% da população?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4220" y="4617719"/>
            <a:ext cx="559308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0aa9914dbe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260" y="4823459"/>
            <a:ext cx="4953000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Entre 80 e 120: ~95,4% (±2σ). O percentil 99 fica em 100 + 2,33·10 ≈ 123,3 mmHg.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Intervalo de confiança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Amostra: 5, 3, 4, 2, 3, 4, 2, 3, 4, 5 (média 3,5; s ≈ 1,08).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Construa o IC 95% para a média.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8362" y="4617719"/>
            <a:ext cx="5404795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3aee1bedfe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402" y="4823459"/>
            <a:ext cx="4764715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Se repetíssemos o estudo muitas vezes, ~95% dos intervalos conteriam a média da população.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Teste de dois grupos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Besouros em duas florestas — Amostra 1: 8,12,15,21,25,44,44,60; Amostra 2: 2,4,5,9,12,17,19.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Que teste usar?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Contagens baixas → distribuição assimétrica → Mann–Whitney (não paramétrico, bilateral, não pareado). Com p = 2,8% &lt; 5%, a diferença é significativa.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Qui-quadrado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Um dado lançado 60 vezes: frequências 8, 11, 7, 12, 15, 7.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O dado é honesto?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8687" y="4617719"/>
            <a:ext cx="6084146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413d4129d4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727" y="4823459"/>
            <a:ext cx="5444066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Não se rejeita a hipótese de dado honesto. Mas, multiplicando tudo por 10, χ² = 52 e p ≈ 10⁻¹⁰: o teste depende do n absoluto.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ANOVA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Contagem de linfócitos sob placebo e duas drogas, em 7 ninhadas.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Animais da mesma ninhada; queremos saber se as drogas diferem do placebo.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Ninhada cria pareamento → ANOVA de medidas repetidas; pós-teste de Dunnett (contra controle). Resultado: p ≈ 0,002; só a droga A difere do placebo.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7 ·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Correlação e regressão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Altura × peso de 9 pessoas (152–193 cm; 38–89 kg).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Calcule r, R² e a reta de regressão.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612" y="4617719"/>
            <a:ext cx="9454296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caf6ee19a0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652" y="4823459"/>
            <a:ext cx="8814216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59% da variação do peso é explicada pela altura. A reta descreve a tendência, mas não prevê bem um indivíduo.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Referências e contato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bcc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50001"/>
            <a:ext cx="4114800" cy="1277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749039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Georgia"/>
              </a:rPr>
              <a:t>Material teórico completo e interativo:</a:t>
            </a:r>
          </a:p>
          <a:p>
            <a:r>
              <a:rPr sz="1800" b="0" i="0">
                <a:solidFill>
                  <a:srgbClr val="3266AD"/>
                </a:solidFill>
                <a:latin typeface="Consolas"/>
              </a:rPr>
              <a:t>monteirotorres.github.io/biostat</a:t>
            </a:r>
          </a:p>
          <a:p>
            <a:r>
              <a:rPr sz="800" b="0" i="0">
                <a:solidFill>
                  <a:srgbClr val="1A1A1A"/>
                </a:solidFill>
                <a:latin typeface="Georgia"/>
              </a:rPr>
              <a:t> </a:t>
            </a:r>
          </a:p>
          <a:p>
            <a:r>
              <a:rPr sz="1500" b="0" i="0">
                <a:solidFill>
                  <a:srgbClr val="6B6457"/>
                </a:solidFill>
                <a:latin typeface="Georgia"/>
              </a:rPr>
              <a:t>Notebooks em Python (pandas · seaborn · scipy.stats)</a:t>
            </a:r>
          </a:p>
          <a:p>
            <a:r>
              <a:rPr sz="1500" b="0" i="0">
                <a:solidFill>
                  <a:srgbClr val="6B6457"/>
                </a:solidFill>
                <a:latin typeface="Consolas"/>
              </a:rPr>
              <a:t>Contato: monteirotorres@biof.ufrj.br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