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bcc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917972"/>
            <a:ext cx="3657600" cy="11358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468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1A1A1A"/>
                </a:solidFill>
                <a:latin typeface="Georgia"/>
              </a:rPr>
              <a:t>Desenho Experimental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6B6457"/>
                </a:solidFill>
                <a:latin typeface="Georgia"/>
              </a:rPr>
              <a:t>Planejando experimentos antes de coletar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457"/>
                </a:solidFill>
                <a:latin typeface="Consolas"/>
              </a:rPr>
              <a:t>Bioestatística · Instituto de Biofísica Carlos Chagas Filho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Georgia"/>
              </a:rPr>
              <a:t>Pedro Torres   ·   Gilberto Weissmuller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2788920"/>
            <a:ext cx="1371600" cy="109728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3266AD"/>
                </a:solidFill>
                <a:latin typeface="Consolas"/>
              </a:rPr>
              <a:t>Parte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1A1A1A"/>
                </a:solidFill>
                <a:latin typeface="Georgia"/>
              </a:rPr>
              <a:t>Por que pensar antes de medir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DESENHO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O que é desenho experimental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É o planejamento das medidas: quem entra no estudo, em que condições e em qual sequência.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Acontece antes da coleta — nenhuma análise estatística conserta um experimento mal desenhado.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Determina o que se pode (e o que não se pode) concluir a partir dos dados.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Garante que diferenças observadas reflitam o efeito de interesse, e não o ruído da coleta.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DESENHO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Por que vem antes da estatística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 análise correta de um experimento mal planejado ainda assim é inconclusiva.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Um experimento subdimensionado expõe sujeitos sem chance real de chegar a uma resposta.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Resultados positivos em estudos pequenos costumam superestimar o efeito real (winner's curse).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O cálculo amostral e a escolha do teste devem ser feitos no projeto, não depois.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DESENHO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Os quatro pilares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ila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389765"/>
            <a:ext cx="9784080" cy="30843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Controle, aleatorização, repetição e pareamento. Cada experimento usa, em maior ou menor grau, todos eles.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2788920"/>
            <a:ext cx="1371600" cy="109728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3266AD"/>
                </a:solidFill>
                <a:latin typeface="Consolas"/>
              </a:rPr>
              <a:t>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1A1A1A"/>
                </a:solidFill>
                <a:latin typeface="Georgia"/>
              </a:rPr>
              <a:t>Controle, aleatorização, repetição e pareamento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PILAR 1 · CONTROLE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Manter as variáveis estranhas constantes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Tudo o que não está sendo estudado precisa, idealmente, ser igual entre os grupos.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Equipamentos, reagentes, tempo de análise, condições ambientais.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Quanto mais variáveis ficam soltas, mais difícil isolar o efeito de interesse.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Comparar a glicemia de pacientes em horários diferentes do dia, com balanças diferentes, em laboratórios diferentes — qualquer diferença observada pode vir do tratamento ou de qualquer um desses fatores.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PILAR 2 · ALEATORIZAÇÃO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Sortear quem recebe cada tratamento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Distribui de forma equilibrada — em média — tanto as variáveis conhecidas quanto as desconhecidas.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É a principal arma contra variáveis de confusão.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Difere fundamentalmente do uso de voluntários, que se autosselecionam.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Sem aleatorização, o estudo só revela associação; com ela, é possível inferir causa.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PILAR 3 · REPETIÇÃO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Reduzir o efeito do acaso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Medir vários indivíduos no mesmo experimento — não basta uma única medida.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A precisão da média melhora com a raiz do tamanho da amostra.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Quadruplicar n reduz o erro padrão pela metade.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Repetir um experimento, em outro laboratório, é o que valida descobertas científicas.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71310" y="4617719"/>
            <a:ext cx="2218900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12006e1aa3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350" y="4823459"/>
            <a:ext cx="157882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PILAR 4 · PAREAMENTO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Aproveitar variabilidade conhecida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ream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086437"/>
            <a:ext cx="9784080" cy="36909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Pareando, a variabilidade entre indivíduos sai da conta — o teste fica mais potente.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2788920"/>
            <a:ext cx="1371600" cy="109728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3266AD"/>
                </a:solidFill>
                <a:latin typeface="Consolas"/>
              </a:rPr>
              <a:t>Parte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1A1A1A"/>
                </a:solidFill>
                <a:latin typeface="Georgia"/>
              </a:rPr>
              <a:t>Tipos de estudo e variáveis de confusão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TIPOS DE ESTUDO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Experimento verdadeiro vs. observacional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Experimento verdadeiro: o pesquisador manipula a variável independente e aleatoriza os tratamentos.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Estudo observacional: os grupos já existem; o pesquisador apenas observa.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Só o experimento aleatorizado permite afirmar uma relação de causa e efeito.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O observacional revela associação — base para hipóteses, não para conclusões causais.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CONFUNDIDORES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Variáveis de confusão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Uma variável é de confusão quando afeta o desfecho e, ao mesmo tempo, difere entre os grupos comparados.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Sem aleatorização, qualquer característica desbalanceada pode explicar a diferença observada.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Idade, sexo, gravidade da doença, estresse e saúde prévia são confundidores frequentes.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 aleatorização os neutraliza, em média; o controle estatístico (por exemplo, ANCOVA) ajusta a posteriori.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CONFUNDIDORES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Caso: motoristas e cobradores de ônibus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Estudo de Londres (1961): cobradores, que andavam o dia todo, tinham menos doença cardíaca que motoristas.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É tentador concluir que o exercício é a causa — mas o estudo é observacional.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Idade, saúde prévia e estresse do trabalho diferem entre os dois grupos.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Anos depois descobriu-se que os motoristas já eram, em média, mais pesados ao serem contratados.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0392B"/>
                </a:solidFill>
                <a:latin typeface="Consolas"/>
              </a:rPr>
              <a:t>LIÇÃO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Há associação real entre exercício e menos doença cardíaca — mas o estudo, sozinho, não prova causa.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2788920"/>
            <a:ext cx="1371600" cy="109728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3266AD"/>
                </a:solidFill>
                <a:latin typeface="Consolas"/>
              </a:rPr>
              <a:t>Parte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1A1A1A"/>
                </a:solidFill>
                <a:latin typeface="Georgia"/>
              </a:rPr>
              <a:t>Técnicas de amostragem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AMOSTRAGEM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Probabilística × não probabilística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Probabilística: cada indivíduo tem chance conhecida e não nula de ser escolhido.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Permite estimar parâmetros populacionais e construir intervalos de confiança.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Não probabilística (conveniência, voluntários, julgamento) gera viés de seleção.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Útil em estudos exploratórios; nunca para comparar intervenções.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AMOSTRAGEM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Aleatória simples e estratificada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Aleatória simples: todos têm a mesma chance — como num sorteio.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Estratificada: a população é dividida em estratos homogêneos e sorteia-se dentro de cada um.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Estratificar garante representação de subgrupos pequenos e reduz a variabilidade.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Usada quando há subgrupos com características muito diferentes (faixas etárias, sexo, região).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AMOSTRAGEM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Conglomerados e sistemática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Conglomerados: sorteiam-se grupos inteiros (escolas, bairros) e mede-se todos dentro deles.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Barata logisticamente, mas menos precisa que a estratificada.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Sistemática: escolhe-se um a cada k indivíduos de uma lista — prática, mas cuidado com padrões periódicos.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AMOSTRAGEM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Cuidado com voluntários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Quem se voluntaria já tem, em média, características diferentes do grupo geral.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Em estudos comparativos, isso vira viés de seleção — o resultado fica artificialmente positivo.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 solução é sortear quem recebe cada tratamento, independentemente do interesse do participante.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Hospital quer testar treinamento de lavagem das mãos. Se os 100 voluntários recebem o treinamento e são comparados com os demais, o estudo é inválido — os voluntários já são, em média, mais cuidadosos.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AMOSTRAGEM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Pareamento em blocos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Quando há uma fonte conhecida de variabilidade, agrupar unidades semelhantes aumenta a potência.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Cada bloco contém uma unidade de cada tratamento — distribuídas por sorteio dentro do bloco.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 variação entre blocos não se confunde com o efeito do tratamento.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266AD"/>
                </a:solidFill>
                <a:latin typeface="Consolas"/>
              </a:rPr>
              <a:t>EXEMPLO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Cinco ninhadas de ratos com filhotes parecidos entre si. Para testar uma droga em quatro doses, pegue um filhote de cada ninhada para cada dose — não misture os filhotes ao acaso.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2788920"/>
            <a:ext cx="1371600" cy="109728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3266AD"/>
                </a:solidFill>
                <a:latin typeface="Consolas"/>
              </a:rPr>
              <a:t>Parte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1A1A1A"/>
                </a:solidFill>
                <a:latin typeface="Georgia"/>
              </a:rPr>
              <a:t>Erros, potência e cálculo amostral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INFERÊNCIA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Hipóteses e tipos de erro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H₀: ausência de efeito. H₁: existe efeito.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Erro tipo I (α): rejeitar H₀ quando ela é verdadeira — falso positivo.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Erro tipo II (β): não rejeitar H₀ quando ela é falsa — falso negativo.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Fixamos α antes do estudo (geralmente 5%); β depende do n, do efeito e da variabilidade.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INFERÊNCIA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Visualizando α e β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r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065" y="1874519"/>
            <a:ext cx="754739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α (vermelho) é o falso positivo sob H₀; β (azul) é o falso negativo sob H₁; o poder é 1 − 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POTÊNCIA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Poder estatístico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Probabilidade de detectar um efeito que realmente existe.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Convenção: poder ≥ 80% — abaixo disso o estudo é subdimensionado.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Quatro fatores estão amarrados: n, tamanho de efeito, variabilidade e α.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Fixados três, o quarto está determinado.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65171" y="4617719"/>
            <a:ext cx="4231178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246bfc235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211" y="4823459"/>
            <a:ext cx="3591098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POTÊNCIA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Curvas de poder × tamanho da amostra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oder_curv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694" y="1874519"/>
            <a:ext cx="7038131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Efeitos grandes precisam de pouca amostra; efeitos pequenos exigem n grande para chegar a 80%.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POTÊNCIA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Os quatro quadrantes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uadran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96" y="1874519"/>
            <a:ext cx="6103528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Combinação de tamanho de efeito e variabilidade dita a viabilidade do experimento.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POTÊNCIA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Cálculo amostral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Quantos indivíduos preciso para detectar um efeito de tamanho δ com poder de 80% e α = 0,05?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Depende do efeito esperado, da variabilidade e do nível de significância.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Deve ser feito no planejamento e reportado no protocolo.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•  Não há um número universal — é sempre uma estimativa para o problema específico.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2677" y="4617719"/>
            <a:ext cx="3836166" cy="10972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_c99bfecfaf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717" y="4823459"/>
            <a:ext cx="3196086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POTÊNCIA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Calculadora interativa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lc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694" y="1874519"/>
            <a:ext cx="7038131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A versão online do curso traz uma calculadora para teste t, ANOVA, qui-quadrado e proporções.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POTÊNCIA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Significância × relevância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Significância estatística: o efeito é detectável dado o desenho.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Relevância prática: o efeito é grande o suficiente para importar.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Com n enorme, é possível detectar efeitos minúsculos e irrelevantes.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Reporte sempre tamanho de efeito e intervalo de confiança, não apenas o valor-p.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223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0392B"/>
                </a:solidFill>
                <a:latin typeface="Consolas"/>
              </a:rPr>
              <a:t>LIÇÃO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Um efeito antitérmico de 0,1 °C pode ser estatisticamente detectável com n suficiente — e clinicamente inútil.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2788920"/>
            <a:ext cx="1371600" cy="109728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3266AD"/>
                </a:solidFill>
                <a:latin typeface="Consolas"/>
              </a:rPr>
              <a:t>Parte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1A1A1A"/>
                </a:solidFill>
                <a:latin typeface="Georgia"/>
              </a:rPr>
              <a:t>Escolhendo o teste e o pós-teste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ANÁLISE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Que teste escolher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luxograma_tes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4715" y="1874519"/>
            <a:ext cx="6632089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457"/>
                </a:solidFill>
                <a:latin typeface="Georgia"/>
              </a:rPr>
              <a:t>Três perguntas: que tipo de dado, quantos grupos, e a normalidade vale?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ANÁLISE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Equivalências paramétrico × não-paramétrico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1 amostra: teste t · Wilcoxon do sinal.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2 independentes: teste t de Welch · Mann–Whitney.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2 pareados: teste t pareado · Wilcoxon pareado.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3+ independentes: ANOVA · Kruskal–Wallis.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3+ pareados: ANOVA de medidas repetidas · Friedman.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ANÁLISE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Pós-testes da ANOVA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Todos os pares: Tukey HSD.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Cada grupo contra um controle: Dunnett.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Poucas comparações planejadas: Bonferroni ou Šidák.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Combinações lineares de médias (contrastes): Scheffé.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Após Kruskal–Wallis: teste de Dunn com correção de Bonferroni.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2788920"/>
            <a:ext cx="1371600" cy="109728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3266AD"/>
                </a:solidFill>
                <a:latin typeface="Consolas"/>
              </a:rPr>
              <a:t>Parte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1A1A1A"/>
                </a:solidFill>
                <a:latin typeface="Georgia"/>
              </a:rPr>
              <a:t>Checklist antes de começar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Antes de coletar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Pergunta de pesquisa formulada de forma operacional.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Variáveis dependentes e independentes claramente definidas, com unidades.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Tamanho de efeito mínimo de interesse clínico/biológico definido.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Cálculo amostral feito e justificado (idealmente com poder ≥ 80%).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Teste estatístico escolhido antes da coleta — não após olhar os dados.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Estratégia de aleatorização e cegamento descrita no protocolo.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B6457"/>
                </a:solidFill>
                <a:latin typeface="Consolas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Erros comuns a evitar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Comparar 3+ grupos par a par com testes t (use ANOVA).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Mudar para teste unilateral depois de olhar os dados.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Reportar apenas o valor-p, sem tamanho de efeito ou intervalo de confiança.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Tratar dados pareados como independentes (ou vice-versa).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Confundir significância com relevância prática.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2000" b="0" i="0">
                <a:solidFill>
                  <a:srgbClr val="1A1A1A"/>
                </a:solidFill>
                <a:latin typeface="Georgia"/>
              </a:rPr>
              <a:t>•  Iniciar um estudo sem cálculo amostral.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Georgia"/>
              </a:rPr>
              <a:t>Material complementar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63040"/>
            <a:ext cx="1005840" cy="45720"/>
          </a:xfrm>
          <a:prstGeom prst="rect">
            <a:avLst/>
          </a:prstGeom>
          <a:solidFill>
            <a:srgbClr val="326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bcc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50001"/>
            <a:ext cx="4114800" cy="12778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749039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A1A1A"/>
                </a:solidFill>
                <a:latin typeface="Georgia"/>
              </a:rPr>
              <a:t>Site do curso (versão interativa, com calculadora de potência):</a:t>
            </a:r>
          </a:p>
          <a:p>
            <a:r>
              <a:rPr sz="1800" b="0" i="0">
                <a:solidFill>
                  <a:srgbClr val="3266AD"/>
                </a:solidFill>
                <a:latin typeface="Consolas"/>
              </a:rPr>
              <a:t>monteirotorres.github.io/biostat</a:t>
            </a:r>
          </a:p>
          <a:p>
            <a:r>
              <a:rPr sz="800" b="0" i="0">
                <a:solidFill>
                  <a:srgbClr val="1A1A1A"/>
                </a:solidFill>
                <a:latin typeface="Georgia"/>
              </a:rPr>
              <a:t> </a:t>
            </a:r>
          </a:p>
          <a:p>
            <a:r>
              <a:rPr sz="1400" b="0" i="0">
                <a:solidFill>
                  <a:srgbClr val="6B6457"/>
                </a:solidFill>
                <a:latin typeface="Georgia"/>
              </a:rPr>
              <a:t>Notebooks em Python (pandas · seaborn · scipy.stats) acompanham cada tópico.</a:t>
            </a:r>
          </a:p>
          <a:p>
            <a:r>
              <a:rPr sz="1400" b="0" i="0">
                <a:solidFill>
                  <a:srgbClr val="6B6457"/>
                </a:solidFill>
                <a:latin typeface="Consolas"/>
              </a:rPr>
              <a:t>Contato: monteirotorres@biof.ufrj.br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6457"/>
                </a:solidFill>
                <a:latin typeface="Consolas"/>
              </a:rPr>
              <a:t>Desenho experimental · Bioestatística · IBCCF ·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457"/>
                </a:solidFill>
                <a:latin typeface="Consolas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